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658368"/>
            <a:ext cx="10241280" cy="34747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207008"/>
            <a:ext cx="6766560" cy="182880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6035040" cy="914400"/>
          </a:xfrm>
          <a:prstGeom prst="rect">
            <a:avLst/>
          </a:prstGeom>
          <a:noFill/>
        </p:spPr>
        <p:txBody>
          <a:bodyPr wrap="square">
            <a:spAutoFit/>
          </a:bodyPr>
          <a:lstStyle/>
          <a:p>
            <a:r>
              <a:rPr sz="2800" b="1">
                <a:solidFill>
                  <a:srgbClr val="122A4C"/>
                </a:solidFill>
                <a:latin typeface="PingFang SC" panose="020B0400000000000000" charset="-122"/>
              </a:rPr>
              <a:t>未来规划方向</a:t>
            </a:r>
            <a:endParaRPr sz="2800" b="1">
              <a:solidFill>
                <a:srgbClr val="122A4C"/>
              </a:solidFill>
              <a:latin typeface="PingFang SC" panose="020B0400000000000000" charset="-122"/>
            </a:endParaRPr>
          </a:p>
        </p:txBody>
      </p:sp>
      <p:sp>
        <p:nvSpPr>
          <p:cNvPr id="8" name="TextBox 7"/>
          <p:cNvSpPr txBox="1"/>
          <p:nvPr/>
        </p:nvSpPr>
        <p:spPr>
          <a:xfrm>
            <a:off x="969264" y="2240280"/>
            <a:ext cx="5852160" cy="731520"/>
          </a:xfrm>
          <a:prstGeom prst="rect">
            <a:avLst/>
          </a:prstGeom>
          <a:noFill/>
        </p:spPr>
        <p:txBody>
          <a:bodyPr wrap="square">
            <a:spAutoFit/>
          </a:bodyPr>
          <a:lstStyle/>
          <a:p>
            <a:r>
              <a:rPr sz="1800">
                <a:solidFill>
                  <a:srgbClr val="606D80"/>
                </a:solidFill>
                <a:latin typeface="PingFang SC" panose="020B0400000000000000" charset="-122"/>
              </a:rPr>
              <a:t>LightRAG 第一阶段价值、数据链建设与长期演进路径</a:t>
            </a:r>
            <a:endParaRPr sz="1800">
              <a:solidFill>
                <a:srgbClr val="606D80"/>
              </a:solidFill>
              <a:latin typeface="PingFang SC" panose="020B0400000000000000" charset="-122"/>
            </a:endParaRPr>
          </a:p>
        </p:txBody>
      </p:sp>
      <p:sp>
        <p:nvSpPr>
          <p:cNvPr id="9" name="Rounded Rectangle 8"/>
          <p:cNvSpPr/>
          <p:nvPr/>
        </p:nvSpPr>
        <p:spPr>
          <a:xfrm>
            <a:off x="7772400" y="1207008"/>
            <a:ext cx="3611880" cy="3337560"/>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572768"/>
            <a:ext cx="2926080" cy="320040"/>
          </a:xfrm>
          <a:prstGeom prst="rect">
            <a:avLst/>
          </a:prstGeom>
          <a:noFill/>
        </p:spPr>
        <p:txBody>
          <a:bodyPr wrap="square">
            <a:spAutoFit/>
          </a:bodyPr>
          <a:lstStyle/>
          <a:p>
            <a:r>
              <a:rPr sz="1200" b="1">
                <a:solidFill>
                  <a:srgbClr val="FFFFFF"/>
                </a:solidFill>
                <a:latin typeface="PingFang SC" panose="020B0400000000000000" charset="-122"/>
              </a:rPr>
              <a:t>汇报主题</a:t>
            </a:r>
            <a:endParaRPr sz="1200" b="1">
              <a:solidFill>
                <a:srgbClr val="FFFFFF"/>
              </a:solidFill>
              <a:latin typeface="PingFang SC" panose="020B0400000000000000" charset="-122"/>
            </a:endParaRPr>
          </a:p>
        </p:txBody>
      </p:sp>
      <p:sp>
        <p:nvSpPr>
          <p:cNvPr id="11" name="TextBox 10"/>
          <p:cNvSpPr txBox="1"/>
          <p:nvPr/>
        </p:nvSpPr>
        <p:spPr>
          <a:xfrm>
            <a:off x="8092440" y="1965960"/>
            <a:ext cx="2743200" cy="1645920"/>
          </a:xfrm>
          <a:prstGeom prst="rect">
            <a:avLst/>
          </a:prstGeom>
          <a:noFill/>
        </p:spPr>
        <p:txBody>
          <a:bodyPr wrap="square">
            <a:spAutoFit/>
          </a:bodyPr>
          <a:lstStyle/>
          <a:p>
            <a:r>
              <a:rPr sz="2400" b="1">
                <a:solidFill>
                  <a:srgbClr val="FFFFFF"/>
                </a:solidFill>
                <a:latin typeface="PingFang SC" panose="020B0400000000000000" charset="-122"/>
              </a:rPr>
              <a:t>第一阶段价值
数据链建设
长期演进路径</a:t>
            </a:r>
            <a:endParaRPr sz="2400" b="1">
              <a:solidFill>
                <a:srgbClr val="FFFFFF"/>
              </a:solidFill>
              <a:latin typeface="PingFang SC" panose="020B0400000000000000" charset="-122"/>
            </a:endParaRPr>
          </a:p>
        </p:txBody>
      </p:sp>
      <p:sp>
        <p:nvSpPr>
          <p:cNvPr id="13" name="Rounded Rectangle 12"/>
          <p:cNvSpPr/>
          <p:nvPr/>
        </p:nvSpPr>
        <p:spPr>
          <a:xfrm>
            <a:off x="731520" y="4745990"/>
            <a:ext cx="10424160" cy="1417320"/>
          </a:xfrm>
          <a:prstGeom prst="round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221478"/>
            <a:ext cx="9784080" cy="640080"/>
          </a:xfrm>
          <a:prstGeom prst="rect">
            <a:avLst/>
          </a:prstGeom>
          <a:noFill/>
        </p:spPr>
        <p:txBody>
          <a:bodyPr wrap="square">
            <a:spAutoFit/>
          </a:bodyPr>
          <a:lstStyle/>
          <a:p>
            <a:pPr algn="ctr"/>
            <a:r>
              <a:rPr sz="2200" b="1">
                <a:solidFill>
                  <a:srgbClr val="245CAB"/>
                </a:solidFill>
                <a:latin typeface="PingFang SC" panose="020B0400000000000000" charset="-122"/>
              </a:rPr>
              <a:t>先把经验变成资产，再把资产升级成智能能力</a:t>
            </a:r>
            <a:endParaRPr sz="2200" b="1">
              <a:solidFill>
                <a:srgbClr val="245CAB"/>
              </a:solidFill>
              <a:latin typeface="PingFang SC" panose="020B04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1</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项目定位</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783080"/>
            <a:ext cx="4709160" cy="416052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第一阶段定位</a:t>
            </a:r>
            <a:endParaRPr sz="1600" b="1">
              <a:solidFill>
                <a:srgbClr val="122A4C"/>
              </a:solidFill>
              <a:latin typeface="PingFang SC" panose="020B0400000000000000" charset="-122"/>
            </a:endParaRPr>
          </a:p>
          <a:p>
            <a:pPr>
              <a:spcAft>
                <a:spcPts val="500"/>
              </a:spcAft>
            </a:pPr>
            <a:r>
              <a:rPr sz="1500">
                <a:solidFill>
                  <a:srgbClr val="222222"/>
                </a:solidFill>
                <a:latin typeface="PingFang SC" panose="020B0400000000000000" charset="-122"/>
              </a:rPr>
              <a:t>第一阶段先落地 LightRAG 知识底座，不直接追求复杂 GraphRAG 推理。</a:t>
            </a:r>
            <a:endParaRPr sz="1500">
              <a:solidFill>
                <a:srgbClr val="222222"/>
              </a:solidFill>
              <a:latin typeface="PingFang SC" panose="020B0400000000000000" charset="-122"/>
            </a:endParaRPr>
          </a:p>
          <a:p>
            <a:pPr>
              <a:spcAft>
                <a:spcPts val="500"/>
              </a:spcAft>
            </a:pPr>
            <a:r>
              <a:rPr sz="1500">
                <a:solidFill>
                  <a:srgbClr val="222222"/>
                </a:solidFill>
                <a:latin typeface="PingFang SC" panose="020B0400000000000000" charset="-122"/>
              </a:rPr>
              <a:t>核心任务是把文档、案例、数据库与接口脉络整理成可查询、可复用、可追溯的知识体系。</a:t>
            </a:r>
            <a:endParaRPr sz="1500">
              <a:solidFill>
                <a:srgbClr val="222222"/>
              </a:solidFill>
              <a:latin typeface="PingFang SC" panose="020B0400000000000000" charset="-122"/>
            </a:endParaRPr>
          </a:p>
          <a:p>
            <a:pPr>
              <a:spcAft>
                <a:spcPts val="500"/>
              </a:spcAft>
            </a:pPr>
            <a:r>
              <a:rPr sz="1500">
                <a:solidFill>
                  <a:srgbClr val="222222"/>
                </a:solidFill>
                <a:latin typeface="PingFang SC" panose="020B0400000000000000" charset="-122"/>
              </a:rPr>
              <a:t>项目目标不是单纯做 AI 问答，而是先形成可落地的知识服务能力，并为后续图谱智能打底。</a:t>
            </a:r>
            <a:endParaRPr sz="1500">
              <a:solidFill>
                <a:srgbClr val="222222"/>
              </a:solidFill>
              <a:latin typeface="PingFang SC" panose="020B0400000000000000" charset="-122"/>
            </a:endParaRPr>
          </a:p>
        </p:txBody>
      </p:sp>
      <p:sp>
        <p:nvSpPr>
          <p:cNvPr id="9" name="Rounded Rectangle 8"/>
          <p:cNvSpPr/>
          <p:nvPr/>
        </p:nvSpPr>
        <p:spPr>
          <a:xfrm>
            <a:off x="5669280" y="1783080"/>
            <a:ext cx="5623560" cy="4160520"/>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FFFFFF"/>
                </a:solidFill>
                <a:latin typeface="PingFang SC" panose="020B0400000000000000" charset="-122"/>
              </a:rPr>
              <a:t>未来系统核心能力</a:t>
            </a:r>
            <a:endParaRPr sz="1600" b="1">
              <a:solidFill>
                <a:srgbClr val="FFFFFF"/>
              </a:solidFill>
              <a:latin typeface="PingFang SC" panose="020B0400000000000000" charset="-122"/>
            </a:endParaRPr>
          </a:p>
          <a:p>
            <a:pPr>
              <a:spcAft>
                <a:spcPts val="500"/>
              </a:spcAft>
            </a:pPr>
            <a:r>
              <a:rPr sz="1800">
                <a:solidFill>
                  <a:srgbClr val="FFFFFF"/>
                </a:solidFill>
                <a:latin typeface="PingFang SC" panose="020B0400000000000000" charset="-122"/>
              </a:rPr>
              <a:t>未来系统的核心能力，是直接面对用户问题，先通过业务图谱快速定位可能原因，再调用 MCP 工具查询实时数据逐层验证，最后由 LLM 基于证据链推定并输出结果；整个过程可以是多层深链调用，但对用户呈现为一次可解释的智能诊断。</a:t>
            </a:r>
            <a:endParaRPr sz="1800">
              <a:solidFill>
                <a:srgbClr val="FFFFFF"/>
              </a:solidFill>
              <a:latin typeface="PingFang SC" panose="020B0400000000000000" charset="-122"/>
            </a:endParaRPr>
          </a:p>
        </p:txBody>
      </p:sp>
      <p:sp>
        <p:nvSpPr>
          <p:cNvPr id="10" name="Rounded Rectangle 9"/>
          <p:cNvSpPr/>
          <p:nvPr/>
        </p:nvSpPr>
        <p:spPr>
          <a:xfrm>
            <a:off x="713105" y="6030595"/>
            <a:ext cx="10469880" cy="749808"/>
          </a:xfrm>
          <a:prstGeom prst="roundRect">
            <a:avLst/>
          </a:prstGeom>
          <a:solidFill>
            <a:srgbClr val="E8F0FE"/>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800">
                <a:solidFill>
                  <a:srgbClr val="245CAB"/>
                </a:solidFill>
                <a:latin typeface="PingFang SC" panose="020B0400000000000000" charset="-122"/>
              </a:rPr>
              <a:t>一句话概括：先把经验变成资产，再把资产升级成智能能力。</a:t>
            </a:r>
            <a:endParaRPr sz="1800">
              <a:solidFill>
                <a:srgbClr val="245CAB"/>
              </a:solidFill>
              <a:latin typeface="PingFang SC" panose="020B04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2</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第一阶段能带来什么</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946400"/>
            <a:ext cx="3246120" cy="1874519"/>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先查知识助手</a:t>
            </a:r>
            <a:endParaRPr sz="1600" b="1">
              <a:solidFill>
                <a:srgbClr val="122A4C"/>
              </a:solidFill>
              <a:latin typeface="PingFang SC" panose="020B0400000000000000" charset="-122"/>
            </a:endParaRPr>
          </a:p>
          <a:p>
            <a:pPr>
              <a:spcAft>
                <a:spcPts val="500"/>
              </a:spcAft>
            </a:pPr>
            <a:r>
              <a:rPr sz="1500">
                <a:solidFill>
                  <a:srgbClr val="222222"/>
                </a:solidFill>
                <a:latin typeface="PingFang SC" panose="020B0400000000000000" charset="-122"/>
              </a:rPr>
              <a:t>让客服和运维面对高频问题时，先查知识助手，不再默认升级给研发。</a:t>
            </a:r>
            <a:endParaRPr sz="1500">
              <a:solidFill>
                <a:srgbClr val="222222"/>
              </a:solidFill>
              <a:latin typeface="PingFang SC" panose="020B0400000000000000" charset="-122"/>
            </a:endParaRPr>
          </a:p>
        </p:txBody>
      </p:sp>
      <p:sp>
        <p:nvSpPr>
          <p:cNvPr id="9" name="Rounded Rectangle 8"/>
          <p:cNvSpPr/>
          <p:nvPr/>
        </p:nvSpPr>
        <p:spPr>
          <a:xfrm>
            <a:off x="4224528" y="1783080"/>
            <a:ext cx="3246120" cy="1874519"/>
          </a:xfrm>
          <a:prstGeom prst="roundRect">
            <a:avLst/>
          </a:prstGeom>
          <a:solidFill>
            <a:srgbClr val="E8F0FE"/>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缩短定位时间</a:t>
            </a:r>
            <a:endParaRPr sz="1600" b="1">
              <a:solidFill>
                <a:srgbClr val="122A4C"/>
              </a:solidFill>
              <a:latin typeface="PingFang SC" panose="020B0400000000000000" charset="-122"/>
            </a:endParaRPr>
          </a:p>
          <a:p>
            <a:pPr>
              <a:spcAft>
                <a:spcPts val="500"/>
              </a:spcAft>
            </a:pPr>
            <a:r>
              <a:rPr sz="1500">
                <a:solidFill>
                  <a:srgbClr val="222222"/>
                </a:solidFill>
                <a:latin typeface="PingFang SC" panose="020B0400000000000000" charset="-122"/>
              </a:rPr>
              <a:t>给出带来源依据的排查路径，缩短首次响应时间和首轮定位时间。</a:t>
            </a:r>
            <a:endParaRPr sz="1500">
              <a:solidFill>
                <a:srgbClr val="222222"/>
              </a:solidFill>
              <a:latin typeface="PingFang SC" panose="020B0400000000000000" charset="-122"/>
            </a:endParaRPr>
          </a:p>
        </p:txBody>
      </p:sp>
      <p:sp>
        <p:nvSpPr>
          <p:cNvPr id="10" name="Rounded Rectangle 9"/>
          <p:cNvSpPr/>
          <p:nvPr/>
        </p:nvSpPr>
        <p:spPr>
          <a:xfrm>
            <a:off x="7671816" y="2946400"/>
            <a:ext cx="3246120" cy="1874519"/>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沉淀标准知识</a:t>
            </a:r>
            <a:endParaRPr sz="1600" b="1">
              <a:solidFill>
                <a:srgbClr val="122A4C"/>
              </a:solidFill>
              <a:latin typeface="PingFang SC" panose="020B0400000000000000" charset="-122"/>
            </a:endParaRPr>
          </a:p>
          <a:p>
            <a:pPr>
              <a:spcAft>
                <a:spcPts val="500"/>
              </a:spcAft>
            </a:pPr>
            <a:r>
              <a:rPr sz="1500">
                <a:solidFill>
                  <a:srgbClr val="222222"/>
                </a:solidFill>
                <a:latin typeface="PingFang SC" panose="020B0400000000000000" charset="-122"/>
              </a:rPr>
              <a:t>把处理过的问题持续沉淀为统一口径、标准问答和标准 SOP。</a:t>
            </a:r>
            <a:endParaRPr sz="1500">
              <a:solidFill>
                <a:srgbClr val="222222"/>
              </a:solidFill>
              <a:latin typeface="PingFang SC" panose="020B0400000000000000" charset="-122"/>
            </a:endParaRPr>
          </a:p>
        </p:txBody>
      </p:sp>
      <p:sp>
        <p:nvSpPr>
          <p:cNvPr id="11" name="Rounded Rectangle 10"/>
          <p:cNvSpPr/>
          <p:nvPr/>
        </p:nvSpPr>
        <p:spPr>
          <a:xfrm>
            <a:off x="4222115" y="3832860"/>
            <a:ext cx="3252470" cy="192024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能力可复制</a:t>
            </a:r>
            <a:endParaRPr sz="1600" b="1">
              <a:solidFill>
                <a:srgbClr val="122A4C"/>
              </a:solidFill>
              <a:latin typeface="PingFang SC" panose="020B0400000000000000" charset="-122"/>
            </a:endParaRPr>
          </a:p>
          <a:p>
            <a:pPr>
              <a:spcAft>
                <a:spcPts val="500"/>
              </a:spcAft>
            </a:pPr>
            <a:r>
              <a:rPr sz="1500">
                <a:solidFill>
                  <a:srgbClr val="222222"/>
                </a:solidFill>
                <a:latin typeface="PingFang SC" panose="020B0400000000000000" charset="-122"/>
              </a:rPr>
              <a:t>让团队能力从依赖个人经验，转向依赖可复用的知识体系。</a:t>
            </a:r>
            <a:endParaRPr sz="1500">
              <a:solidFill>
                <a:srgbClr val="222222"/>
              </a:solidFill>
              <a:latin typeface="PingFang SC" panose="020B04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3</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第一阶段建设内容</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920240"/>
            <a:ext cx="1920240" cy="347472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9" name="Oval 8"/>
          <p:cNvSpPr/>
          <p:nvPr/>
        </p:nvSpPr>
        <p:spPr>
          <a:xfrm>
            <a:off x="804671" y="206654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01</a:t>
            </a:r>
            <a:endParaRPr sz="1200" b="1">
              <a:solidFill>
                <a:srgbClr val="FFFFFF"/>
              </a:solidFill>
              <a:latin typeface="PingFang SC" panose="020B0400000000000000" charset="-122"/>
            </a:endParaRPr>
          </a:p>
        </p:txBody>
      </p:sp>
      <p:sp>
        <p:nvSpPr>
          <p:cNvPr id="10" name="TextBox 9"/>
          <p:cNvSpPr txBox="1"/>
          <p:nvPr/>
        </p:nvSpPr>
        <p:spPr>
          <a:xfrm>
            <a:off x="804671" y="2633472"/>
            <a:ext cx="1627632" cy="2606039"/>
          </a:xfrm>
          <a:prstGeom prst="rect">
            <a:avLst/>
          </a:prstGeom>
          <a:noFill/>
        </p:spPr>
        <p:txBody>
          <a:bodyPr wrap="square">
            <a:spAutoFit/>
          </a:bodyPr>
          <a:lstStyle/>
          <a:p>
            <a:r>
              <a:rPr sz="1300" b="0">
                <a:solidFill>
                  <a:srgbClr val="222222"/>
                </a:solidFill>
                <a:latin typeface="PingFang SC" panose="020B0400000000000000" charset="-122"/>
              </a:rPr>
              <a:t>基于 LightRAG 建设统一知识底座，先覆盖高频问题场景。</a:t>
            </a:r>
            <a:endParaRPr sz="1300" b="0">
              <a:solidFill>
                <a:srgbClr val="222222"/>
              </a:solidFill>
              <a:latin typeface="PingFang SC" panose="020B0400000000000000" charset="-122"/>
            </a:endParaRPr>
          </a:p>
        </p:txBody>
      </p:sp>
      <p:sp>
        <p:nvSpPr>
          <p:cNvPr id="11" name="Rounded Rectangle 10"/>
          <p:cNvSpPr/>
          <p:nvPr/>
        </p:nvSpPr>
        <p:spPr>
          <a:xfrm>
            <a:off x="2944368" y="1920240"/>
            <a:ext cx="1920240" cy="347472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12" name="Oval 11"/>
          <p:cNvSpPr/>
          <p:nvPr/>
        </p:nvSpPr>
        <p:spPr>
          <a:xfrm>
            <a:off x="3108960" y="206654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02</a:t>
            </a:r>
            <a:endParaRPr sz="1200" b="1">
              <a:solidFill>
                <a:srgbClr val="FFFFFF"/>
              </a:solidFill>
              <a:latin typeface="PingFang SC" panose="020B0400000000000000" charset="-122"/>
            </a:endParaRPr>
          </a:p>
        </p:txBody>
      </p:sp>
      <p:sp>
        <p:nvSpPr>
          <p:cNvPr id="13" name="TextBox 12"/>
          <p:cNvSpPr txBox="1"/>
          <p:nvPr/>
        </p:nvSpPr>
        <p:spPr>
          <a:xfrm>
            <a:off x="3108960" y="2633472"/>
            <a:ext cx="1627632" cy="2606039"/>
          </a:xfrm>
          <a:prstGeom prst="rect">
            <a:avLst/>
          </a:prstGeom>
          <a:noFill/>
        </p:spPr>
        <p:txBody>
          <a:bodyPr wrap="square">
            <a:spAutoFit/>
          </a:bodyPr>
          <a:lstStyle/>
          <a:p>
            <a:r>
              <a:rPr sz="1300" b="0">
                <a:solidFill>
                  <a:srgbClr val="222222"/>
                </a:solidFill>
                <a:latin typeface="PingFang SC" panose="020B0400000000000000" charset="-122"/>
              </a:rPr>
              <a:t>接入产品文档、部署文档、配置手册、运维 SOP、历史案例。</a:t>
            </a:r>
            <a:endParaRPr sz="1300" b="0">
              <a:solidFill>
                <a:srgbClr val="222222"/>
              </a:solidFill>
              <a:latin typeface="PingFang SC" panose="020B0400000000000000" charset="-122"/>
            </a:endParaRPr>
          </a:p>
        </p:txBody>
      </p:sp>
      <p:sp>
        <p:nvSpPr>
          <p:cNvPr id="14" name="Rounded Rectangle 13"/>
          <p:cNvSpPr/>
          <p:nvPr/>
        </p:nvSpPr>
        <p:spPr>
          <a:xfrm>
            <a:off x="5248656" y="1920240"/>
            <a:ext cx="1920240" cy="347472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15" name="Oval 14"/>
          <p:cNvSpPr/>
          <p:nvPr/>
        </p:nvSpPr>
        <p:spPr>
          <a:xfrm>
            <a:off x="5413248" y="206654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03</a:t>
            </a:r>
            <a:endParaRPr sz="1200" b="1">
              <a:solidFill>
                <a:srgbClr val="FFFFFF"/>
              </a:solidFill>
              <a:latin typeface="PingFang SC" panose="020B0400000000000000" charset="-122"/>
            </a:endParaRPr>
          </a:p>
        </p:txBody>
      </p:sp>
      <p:sp>
        <p:nvSpPr>
          <p:cNvPr id="16" name="TextBox 15"/>
          <p:cNvSpPr txBox="1"/>
          <p:nvPr/>
        </p:nvSpPr>
        <p:spPr>
          <a:xfrm>
            <a:off x="5413248" y="2633472"/>
            <a:ext cx="1627632" cy="2606039"/>
          </a:xfrm>
          <a:prstGeom prst="rect">
            <a:avLst/>
          </a:prstGeom>
          <a:noFill/>
        </p:spPr>
        <p:txBody>
          <a:bodyPr wrap="square">
            <a:spAutoFit/>
          </a:bodyPr>
          <a:lstStyle/>
          <a:p>
            <a:r>
              <a:rPr sz="1300" b="0">
                <a:solidFill>
                  <a:srgbClr val="222222"/>
                </a:solidFill>
                <a:latin typeface="PingFang SC" panose="020B0400000000000000" charset="-122"/>
              </a:rPr>
              <a:t>接入 CodeGraph 梳理出的数据库建表 SQL、字段关系、代码调用链、接口链路。</a:t>
            </a:r>
            <a:endParaRPr sz="1300" b="0">
              <a:solidFill>
                <a:srgbClr val="222222"/>
              </a:solidFill>
              <a:latin typeface="PingFang SC" panose="020B0400000000000000" charset="-122"/>
            </a:endParaRPr>
          </a:p>
        </p:txBody>
      </p:sp>
      <p:sp>
        <p:nvSpPr>
          <p:cNvPr id="17" name="Rounded Rectangle 16"/>
          <p:cNvSpPr/>
          <p:nvPr/>
        </p:nvSpPr>
        <p:spPr>
          <a:xfrm>
            <a:off x="7552944" y="1920240"/>
            <a:ext cx="1920240" cy="347472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18" name="Oval 17"/>
          <p:cNvSpPr/>
          <p:nvPr/>
        </p:nvSpPr>
        <p:spPr>
          <a:xfrm>
            <a:off x="7717536" y="206654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04</a:t>
            </a:r>
            <a:endParaRPr sz="1200" b="1">
              <a:solidFill>
                <a:srgbClr val="FFFFFF"/>
              </a:solidFill>
              <a:latin typeface="PingFang SC" panose="020B0400000000000000" charset="-122"/>
            </a:endParaRPr>
          </a:p>
        </p:txBody>
      </p:sp>
      <p:sp>
        <p:nvSpPr>
          <p:cNvPr id="19" name="TextBox 18"/>
          <p:cNvSpPr txBox="1"/>
          <p:nvPr/>
        </p:nvSpPr>
        <p:spPr>
          <a:xfrm>
            <a:off x="7717536" y="2633472"/>
            <a:ext cx="1627632" cy="2606039"/>
          </a:xfrm>
          <a:prstGeom prst="rect">
            <a:avLst/>
          </a:prstGeom>
          <a:noFill/>
        </p:spPr>
        <p:txBody>
          <a:bodyPr wrap="square">
            <a:spAutoFit/>
          </a:bodyPr>
          <a:lstStyle/>
          <a:p>
            <a:r>
              <a:rPr sz="1300" b="0">
                <a:solidFill>
                  <a:srgbClr val="222222"/>
                </a:solidFill>
                <a:latin typeface="PingFang SC" panose="020B0400000000000000" charset="-122"/>
              </a:rPr>
              <a:t>结合现有后台查询能力，补齐设备状态、告警规则、日志、任务状态、配置结果等信息来源。</a:t>
            </a:r>
            <a:endParaRPr sz="1300" b="0">
              <a:solidFill>
                <a:srgbClr val="222222"/>
              </a:solidFill>
              <a:latin typeface="PingFang SC" panose="020B0400000000000000" charset="-122"/>
            </a:endParaRPr>
          </a:p>
        </p:txBody>
      </p:sp>
      <p:sp>
        <p:nvSpPr>
          <p:cNvPr id="20" name="Rounded Rectangle 19"/>
          <p:cNvSpPr/>
          <p:nvPr/>
        </p:nvSpPr>
        <p:spPr>
          <a:xfrm>
            <a:off x="9857232" y="1920240"/>
            <a:ext cx="1920240" cy="347472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21" name="Oval 20"/>
          <p:cNvSpPr/>
          <p:nvPr/>
        </p:nvSpPr>
        <p:spPr>
          <a:xfrm>
            <a:off x="10021824" y="206654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05</a:t>
            </a:r>
            <a:endParaRPr sz="1200" b="1">
              <a:solidFill>
                <a:srgbClr val="FFFFFF"/>
              </a:solidFill>
              <a:latin typeface="PingFang SC" panose="020B0400000000000000" charset="-122"/>
            </a:endParaRPr>
          </a:p>
        </p:txBody>
      </p:sp>
      <p:sp>
        <p:nvSpPr>
          <p:cNvPr id="22" name="TextBox 21"/>
          <p:cNvSpPr txBox="1"/>
          <p:nvPr/>
        </p:nvSpPr>
        <p:spPr>
          <a:xfrm>
            <a:off x="10021824" y="2633472"/>
            <a:ext cx="1627632" cy="2606039"/>
          </a:xfrm>
          <a:prstGeom prst="rect">
            <a:avLst/>
          </a:prstGeom>
          <a:noFill/>
        </p:spPr>
        <p:txBody>
          <a:bodyPr wrap="square">
            <a:spAutoFit/>
          </a:bodyPr>
          <a:lstStyle/>
          <a:p>
            <a:r>
              <a:rPr sz="1300" b="0">
                <a:solidFill>
                  <a:srgbClr val="222222"/>
                </a:solidFill>
                <a:latin typeface="PingFang SC" panose="020B0400000000000000" charset="-122"/>
              </a:rPr>
              <a:t>通过大模型把技术事实整理成业务脉络，形成可追溯的数据链。</a:t>
            </a:r>
            <a:endParaRPr sz="1300" b="0">
              <a:solidFill>
                <a:srgbClr val="222222"/>
              </a:solidFill>
              <a:latin typeface="PingFang SC" panose="020B04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4</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数据来源与数据链</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86384" y="1783080"/>
            <a:ext cx="1188720" cy="329184"/>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数据来源</a:t>
            </a:r>
            <a:endParaRPr sz="1000" b="1">
              <a:solidFill>
                <a:srgbClr val="FFFFFF"/>
              </a:solidFill>
              <a:latin typeface="PingFang SC" panose="020B0400000000000000" charset="-122"/>
            </a:endParaRPr>
          </a:p>
        </p:txBody>
      </p:sp>
      <p:sp>
        <p:nvSpPr>
          <p:cNvPr id="9" name="Rounded Rectangle 8"/>
          <p:cNvSpPr/>
          <p:nvPr/>
        </p:nvSpPr>
        <p:spPr>
          <a:xfrm>
            <a:off x="777240" y="2148840"/>
            <a:ext cx="4069080" cy="1024128"/>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400">
                <a:solidFill>
                  <a:srgbClr val="222222"/>
                </a:solidFill>
                <a:latin typeface="PingFang SC" panose="020B0400000000000000" charset="-122"/>
              </a:rPr>
              <a:t>CodeGraph 梳理出的数据库建表 SQL、字段定义、表关系、代码调用链、接口调用链。</a:t>
            </a:r>
            <a:endParaRPr sz="1400">
              <a:solidFill>
                <a:srgbClr val="222222"/>
              </a:solidFill>
              <a:latin typeface="PingFang SC" panose="020B0400000000000000" charset="-122"/>
            </a:endParaRPr>
          </a:p>
        </p:txBody>
      </p:sp>
      <p:sp>
        <p:nvSpPr>
          <p:cNvPr id="10" name="Rounded Rectangle 9"/>
          <p:cNvSpPr/>
          <p:nvPr/>
        </p:nvSpPr>
        <p:spPr>
          <a:xfrm>
            <a:off x="777240" y="3374136"/>
            <a:ext cx="4069080" cy="1024128"/>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400">
                <a:solidFill>
                  <a:srgbClr val="222222"/>
                </a:solidFill>
                <a:latin typeface="PingFang SC" panose="020B0400000000000000" charset="-122"/>
              </a:rPr>
              <a:t>现有系统中的产品文档、部署手册、配置说明、运维 SOP、故障记录、历史案例。</a:t>
            </a:r>
            <a:endParaRPr sz="1400">
              <a:solidFill>
                <a:srgbClr val="222222"/>
              </a:solidFill>
              <a:latin typeface="PingFang SC" panose="020B0400000000000000" charset="-122"/>
            </a:endParaRPr>
          </a:p>
        </p:txBody>
      </p:sp>
      <p:sp>
        <p:nvSpPr>
          <p:cNvPr id="11" name="Rounded Rectangle 10"/>
          <p:cNvSpPr/>
          <p:nvPr/>
        </p:nvSpPr>
        <p:spPr>
          <a:xfrm>
            <a:off x="777240" y="4599432"/>
            <a:ext cx="4069080" cy="1024128"/>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400">
                <a:solidFill>
                  <a:srgbClr val="222222"/>
                </a:solidFill>
                <a:latin typeface="PingFang SC" panose="020B0400000000000000" charset="-122"/>
              </a:rPr>
              <a:t>后台服务已有的查询能力，包括设备状态、告警规则、日志、任务状态、配置结果等。</a:t>
            </a:r>
            <a:endParaRPr sz="1400">
              <a:solidFill>
                <a:srgbClr val="222222"/>
              </a:solidFill>
              <a:latin typeface="PingFang SC" panose="020B0400000000000000" charset="-122"/>
            </a:endParaRPr>
          </a:p>
        </p:txBody>
      </p:sp>
      <p:sp>
        <p:nvSpPr>
          <p:cNvPr id="12" name="Rounded Rectangle 11"/>
          <p:cNvSpPr/>
          <p:nvPr/>
        </p:nvSpPr>
        <p:spPr>
          <a:xfrm>
            <a:off x="5166360" y="1783080"/>
            <a:ext cx="1600200" cy="329184"/>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数据链形成方式</a:t>
            </a:r>
            <a:endParaRPr sz="1000" b="1">
              <a:solidFill>
                <a:srgbClr val="FFFFFF"/>
              </a:solidFill>
              <a:latin typeface="PingFang SC" panose="020B0400000000000000" charset="-122"/>
            </a:endParaRPr>
          </a:p>
        </p:txBody>
      </p:sp>
      <p:sp>
        <p:nvSpPr>
          <p:cNvPr id="13" name="Rounded Rectangle 12"/>
          <p:cNvSpPr/>
          <p:nvPr/>
        </p:nvSpPr>
        <p:spPr>
          <a:xfrm>
            <a:off x="5166360" y="2148840"/>
            <a:ext cx="5577840" cy="82296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14" name="Oval 13"/>
          <p:cNvSpPr/>
          <p:nvPr/>
        </p:nvSpPr>
        <p:spPr>
          <a:xfrm>
            <a:off x="5330952" y="229514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01</a:t>
            </a:r>
            <a:endParaRPr sz="1200" b="1">
              <a:solidFill>
                <a:srgbClr val="FFFFFF"/>
              </a:solidFill>
              <a:latin typeface="PingFang SC" panose="020B0400000000000000" charset="-122"/>
            </a:endParaRPr>
          </a:p>
        </p:txBody>
      </p:sp>
      <p:sp>
        <p:nvSpPr>
          <p:cNvPr id="15" name="TextBox 14"/>
          <p:cNvSpPr txBox="1"/>
          <p:nvPr/>
        </p:nvSpPr>
        <p:spPr>
          <a:xfrm>
            <a:off x="5769737" y="2296924"/>
            <a:ext cx="5285231" cy="491490"/>
          </a:xfrm>
          <a:prstGeom prst="rect">
            <a:avLst/>
          </a:prstGeom>
          <a:noFill/>
        </p:spPr>
        <p:txBody>
          <a:bodyPr wrap="square">
            <a:spAutoFit/>
          </a:bodyPr>
          <a:lstStyle/>
          <a:p>
            <a:r>
              <a:rPr sz="1300" b="0">
                <a:solidFill>
                  <a:srgbClr val="222222"/>
                </a:solidFill>
                <a:latin typeface="PingFang SC" panose="020B0400000000000000" charset="-122"/>
              </a:rPr>
              <a:t>整理数据库、接口、代码和文档中的技术事实，确认真实数据源和</a:t>
            </a:r>
            <a:endParaRPr sz="1300" b="0">
              <a:solidFill>
                <a:srgbClr val="222222"/>
              </a:solidFill>
              <a:latin typeface="PingFang SC" panose="020B0400000000000000" charset="-122"/>
            </a:endParaRPr>
          </a:p>
          <a:p>
            <a:r>
              <a:rPr sz="1300" b="0">
                <a:solidFill>
                  <a:srgbClr val="222222"/>
                </a:solidFill>
                <a:latin typeface="PingFang SC" panose="020B0400000000000000" charset="-122"/>
              </a:rPr>
              <a:t>处理链路。</a:t>
            </a:r>
            <a:endParaRPr sz="1300" b="0">
              <a:solidFill>
                <a:srgbClr val="222222"/>
              </a:solidFill>
              <a:latin typeface="PingFang SC" panose="020B0400000000000000" charset="-122"/>
            </a:endParaRPr>
          </a:p>
        </p:txBody>
      </p:sp>
      <p:sp>
        <p:nvSpPr>
          <p:cNvPr id="16" name="Rounded Rectangle 15"/>
          <p:cNvSpPr/>
          <p:nvPr/>
        </p:nvSpPr>
        <p:spPr>
          <a:xfrm>
            <a:off x="5166360" y="3154680"/>
            <a:ext cx="5577840" cy="82296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17" name="Oval 16"/>
          <p:cNvSpPr/>
          <p:nvPr/>
        </p:nvSpPr>
        <p:spPr>
          <a:xfrm>
            <a:off x="5330952" y="330098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02</a:t>
            </a:r>
            <a:endParaRPr sz="1200" b="1">
              <a:solidFill>
                <a:srgbClr val="FFFFFF"/>
              </a:solidFill>
              <a:latin typeface="PingFang SC" panose="020B0400000000000000" charset="-122"/>
            </a:endParaRPr>
          </a:p>
        </p:txBody>
      </p:sp>
      <p:sp>
        <p:nvSpPr>
          <p:cNvPr id="18" name="TextBox 17"/>
          <p:cNvSpPr txBox="1"/>
          <p:nvPr/>
        </p:nvSpPr>
        <p:spPr>
          <a:xfrm>
            <a:off x="5769737" y="3314830"/>
            <a:ext cx="5285231" cy="45719"/>
          </a:xfrm>
          <a:prstGeom prst="rect">
            <a:avLst/>
          </a:prstGeom>
          <a:noFill/>
        </p:spPr>
        <p:txBody>
          <a:bodyPr wrap="square">
            <a:spAutoFit/>
          </a:bodyPr>
          <a:lstStyle/>
          <a:p>
            <a:r>
              <a:rPr sz="1300" b="0">
                <a:solidFill>
                  <a:srgbClr val="222222"/>
                </a:solidFill>
                <a:latin typeface="PingFang SC" panose="020B0400000000000000" charset="-122"/>
              </a:rPr>
              <a:t>利用大模型翻译成业务脉络，识别业务对象、处理步骤、判断规则、结果呈现之间的关系。</a:t>
            </a:r>
            <a:endParaRPr sz="1300" b="0">
              <a:solidFill>
                <a:srgbClr val="222222"/>
              </a:solidFill>
              <a:latin typeface="PingFang SC" panose="020B0400000000000000" charset="-122"/>
            </a:endParaRPr>
          </a:p>
        </p:txBody>
      </p:sp>
      <p:sp>
        <p:nvSpPr>
          <p:cNvPr id="19" name="Rounded Rectangle 18"/>
          <p:cNvSpPr/>
          <p:nvPr/>
        </p:nvSpPr>
        <p:spPr>
          <a:xfrm>
            <a:off x="5166360" y="4160520"/>
            <a:ext cx="5577840" cy="82296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20" name="Oval 19"/>
          <p:cNvSpPr/>
          <p:nvPr/>
        </p:nvSpPr>
        <p:spPr>
          <a:xfrm>
            <a:off x="5330952" y="430682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03</a:t>
            </a:r>
            <a:endParaRPr sz="1200" b="1">
              <a:solidFill>
                <a:srgbClr val="FFFFFF"/>
              </a:solidFill>
              <a:latin typeface="PingFang SC" panose="020B0400000000000000" charset="-122"/>
            </a:endParaRPr>
          </a:p>
        </p:txBody>
      </p:sp>
      <p:sp>
        <p:nvSpPr>
          <p:cNvPr id="21" name="TextBox 20"/>
          <p:cNvSpPr txBox="1"/>
          <p:nvPr/>
        </p:nvSpPr>
        <p:spPr>
          <a:xfrm>
            <a:off x="5769737" y="4329561"/>
            <a:ext cx="5285231" cy="491490"/>
          </a:xfrm>
          <a:prstGeom prst="rect">
            <a:avLst/>
          </a:prstGeom>
          <a:noFill/>
        </p:spPr>
        <p:txBody>
          <a:bodyPr wrap="square">
            <a:spAutoFit/>
          </a:bodyPr>
          <a:lstStyle/>
          <a:p>
            <a:r>
              <a:rPr sz="1300" b="0">
                <a:solidFill>
                  <a:srgbClr val="222222"/>
                </a:solidFill>
                <a:latin typeface="PingFang SC" panose="020B0400000000000000" charset="-122"/>
              </a:rPr>
              <a:t>形成可追溯的数据链，回答“数据从哪里来、经过哪里处理、最终</a:t>
            </a:r>
            <a:endParaRPr sz="1300" b="0">
              <a:solidFill>
                <a:srgbClr val="222222"/>
              </a:solidFill>
              <a:latin typeface="PingFang SC" panose="020B0400000000000000" charset="-122"/>
            </a:endParaRPr>
          </a:p>
          <a:p>
            <a:r>
              <a:rPr sz="1300" b="0">
                <a:solidFill>
                  <a:srgbClr val="222222"/>
                </a:solidFill>
                <a:latin typeface="PingFang SC" panose="020B0400000000000000" charset="-122"/>
              </a:rPr>
              <a:t>展示到哪里”。</a:t>
            </a:r>
            <a:endParaRPr sz="1300" b="0">
              <a:solidFill>
                <a:srgbClr val="222222"/>
              </a:solidFill>
              <a:latin typeface="PingFang SC" panose="020B0400000000000000" charset="-122"/>
            </a:endParaRPr>
          </a:p>
        </p:txBody>
      </p:sp>
      <p:sp>
        <p:nvSpPr>
          <p:cNvPr id="22" name="Rounded Rectangle 21"/>
          <p:cNvSpPr/>
          <p:nvPr/>
        </p:nvSpPr>
        <p:spPr>
          <a:xfrm>
            <a:off x="5166360" y="5166360"/>
            <a:ext cx="5577840" cy="82296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p>
        </p:txBody>
      </p:sp>
      <p:sp>
        <p:nvSpPr>
          <p:cNvPr id="23" name="Oval 22"/>
          <p:cNvSpPr/>
          <p:nvPr/>
        </p:nvSpPr>
        <p:spPr>
          <a:xfrm>
            <a:off x="5330952" y="5312664"/>
            <a:ext cx="438912" cy="438912"/>
          </a:xfrm>
          <a:prstGeom prst="ellipse">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PingFang SC" panose="020B0400000000000000" charset="-122"/>
              </a:rPr>
              <a:t>04</a:t>
            </a:r>
            <a:endParaRPr sz="1200" b="1">
              <a:solidFill>
                <a:srgbClr val="FFFFFF"/>
              </a:solidFill>
              <a:latin typeface="PingFang SC" panose="020B0400000000000000" charset="-122"/>
            </a:endParaRPr>
          </a:p>
        </p:txBody>
      </p:sp>
      <p:sp>
        <p:nvSpPr>
          <p:cNvPr id="24" name="TextBox 23"/>
          <p:cNvSpPr txBox="1"/>
          <p:nvPr/>
        </p:nvSpPr>
        <p:spPr>
          <a:xfrm>
            <a:off x="5769737" y="5358260"/>
            <a:ext cx="5285231" cy="45719"/>
          </a:xfrm>
          <a:prstGeom prst="rect">
            <a:avLst/>
          </a:prstGeom>
          <a:noFill/>
        </p:spPr>
        <p:txBody>
          <a:bodyPr wrap="square">
            <a:spAutoFit/>
          </a:bodyPr>
          <a:lstStyle/>
          <a:p>
            <a:r>
              <a:rPr sz="1300" b="0">
                <a:solidFill>
                  <a:srgbClr val="222222"/>
                </a:solidFill>
                <a:latin typeface="PingFang SC" panose="020B0400000000000000" charset="-122"/>
              </a:rPr>
              <a:t>把数据链转化为问答、排查路径和证据说明。</a:t>
            </a:r>
            <a:endParaRPr sz="1300" b="0">
              <a:solidFill>
                <a:srgbClr val="222222"/>
              </a:solidFill>
              <a:latin typeface="PingFang SC" panose="020B04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5</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为什么不是传统知识库</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828800"/>
            <a:ext cx="5120640" cy="3931920"/>
          </a:xfrm>
          <a:prstGeom prst="roundRect">
            <a:avLst/>
          </a:prstGeom>
          <a:solidFill>
            <a:srgbClr val="FFF5D6"/>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传统 RAG</a:t>
            </a:r>
            <a:endParaRPr sz="1600" b="1">
              <a:solidFill>
                <a:srgbClr val="122A4C"/>
              </a:solidFill>
              <a:latin typeface="PingFang SC" panose="020B0400000000000000" charset="-122"/>
            </a:endParaRPr>
          </a:p>
          <a:p>
            <a:pPr>
              <a:spcAft>
                <a:spcPts val="500"/>
              </a:spcAft>
            </a:pPr>
            <a:r>
              <a:rPr sz="1500">
                <a:solidFill>
                  <a:srgbClr val="222222"/>
                </a:solidFill>
                <a:latin typeface="PingFang SC" panose="020B0400000000000000" charset="-122"/>
              </a:rPr>
              <a:t>传统 RAG 更像把文档切成很多小段，再从里面找最相近的内容。</a:t>
            </a:r>
            <a:endParaRPr sz="1500">
              <a:solidFill>
                <a:srgbClr val="222222"/>
              </a:solidFill>
              <a:latin typeface="PingFang SC" panose="020B0400000000000000" charset="-122"/>
            </a:endParaRPr>
          </a:p>
          <a:p>
            <a:pPr>
              <a:spcAft>
                <a:spcPts val="500"/>
              </a:spcAft>
            </a:pPr>
            <a:r>
              <a:rPr sz="1500">
                <a:solidFill>
                  <a:srgbClr val="222222"/>
                </a:solidFill>
                <a:latin typeface="PingFang SC" panose="020B0400000000000000" charset="-122"/>
              </a:rPr>
              <a:t>它适合回答“文档里怎么写”，但不擅长回答“这个问题和哪个配置、接口、表、规则有关”。</a:t>
            </a:r>
            <a:endParaRPr sz="1500">
              <a:solidFill>
                <a:srgbClr val="222222"/>
              </a:solidFill>
              <a:latin typeface="PingFang SC" panose="020B0400000000000000" charset="-122"/>
            </a:endParaRPr>
          </a:p>
          <a:p>
            <a:pPr>
              <a:spcAft>
                <a:spcPts val="500"/>
              </a:spcAft>
            </a:pPr>
            <a:r>
              <a:rPr sz="1500">
                <a:solidFill>
                  <a:srgbClr val="222222"/>
                </a:solidFill>
                <a:latin typeface="PingFang SC" panose="020B0400000000000000" charset="-122"/>
              </a:rPr>
              <a:t>它不擅长把多个系统里的关系串起来，容易停留在“找到几段像答案的文字”。</a:t>
            </a:r>
            <a:endParaRPr sz="1500">
              <a:solidFill>
                <a:srgbClr val="222222"/>
              </a:solidFill>
              <a:latin typeface="PingFang SC" panose="020B0400000000000000" charset="-122"/>
            </a:endParaRPr>
          </a:p>
        </p:txBody>
      </p:sp>
      <p:sp>
        <p:nvSpPr>
          <p:cNvPr id="9" name="Rounded Rectangle 8"/>
          <p:cNvSpPr/>
          <p:nvPr/>
        </p:nvSpPr>
        <p:spPr>
          <a:xfrm>
            <a:off x="6263640" y="1828800"/>
            <a:ext cx="5074920" cy="3931920"/>
          </a:xfrm>
          <a:prstGeom prst="roundRect">
            <a:avLst/>
          </a:prstGeom>
          <a:solidFill>
            <a:srgbClr val="DEEB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图谱知识库</a:t>
            </a:r>
            <a:endParaRPr sz="1600" b="1">
              <a:solidFill>
                <a:srgbClr val="122A4C"/>
              </a:solidFill>
              <a:latin typeface="PingFang SC" panose="020B0400000000000000" charset="-122"/>
            </a:endParaRPr>
          </a:p>
          <a:p>
            <a:pPr>
              <a:spcAft>
                <a:spcPts val="500"/>
              </a:spcAft>
            </a:pPr>
            <a:r>
              <a:rPr sz="1500">
                <a:solidFill>
                  <a:srgbClr val="222222"/>
                </a:solidFill>
                <a:latin typeface="PingFang SC" panose="020B0400000000000000" charset="-122"/>
              </a:rPr>
              <a:t>图谱知识库更适合把设备、配置、规则、接口、数据库、页面结果这些对象串成一条关系链。</a:t>
            </a:r>
            <a:endParaRPr sz="1500">
              <a:solidFill>
                <a:srgbClr val="222222"/>
              </a:solidFill>
              <a:latin typeface="PingFang SC" panose="020B0400000000000000" charset="-122"/>
            </a:endParaRPr>
          </a:p>
          <a:p>
            <a:pPr>
              <a:spcAft>
                <a:spcPts val="500"/>
              </a:spcAft>
            </a:pPr>
            <a:r>
              <a:rPr sz="1500">
                <a:solidFill>
                  <a:srgbClr val="222222"/>
                </a:solidFill>
                <a:latin typeface="PingFang SC" panose="020B0400000000000000" charset="-122"/>
              </a:rPr>
              <a:t>因此图谱知识库回答的不只是“像不像”，而是“为什么会这样、应该先查哪里”。</a:t>
            </a:r>
            <a:endParaRPr sz="1500">
              <a:solidFill>
                <a:srgbClr val="222222"/>
              </a:solidFill>
              <a:latin typeface="PingFang SC" panose="020B0400000000000000" charset="-122"/>
            </a:endParaRPr>
          </a:p>
        </p:txBody>
      </p:sp>
      <p:sp>
        <p:nvSpPr>
          <p:cNvPr id="10" name="Rounded Rectangle 9"/>
          <p:cNvSpPr/>
          <p:nvPr/>
        </p:nvSpPr>
        <p:spPr>
          <a:xfrm>
            <a:off x="822960" y="5902960"/>
            <a:ext cx="10515600" cy="731520"/>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800">
                <a:solidFill>
                  <a:srgbClr val="FFFFFF"/>
                </a:solidFill>
                <a:latin typeface="PingFang SC" panose="020B0400000000000000" charset="-122"/>
              </a:rPr>
              <a:t>一句话概括：传统知识库更像“按关键词找答案”，图谱知识库更像“按业务关系找原因”。</a:t>
            </a:r>
            <a:endParaRPr sz="1800">
              <a:solidFill>
                <a:srgbClr val="FFFFFF"/>
              </a:solidFill>
              <a:latin typeface="PingFang SC" panose="020B04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6</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传统 RAG 与 GraphRAG 对比示例</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783080"/>
            <a:ext cx="10469880" cy="914400"/>
          </a:xfrm>
          <a:prstGeom prst="roundRect">
            <a:avLst/>
          </a:prstGeom>
          <a:solidFill>
            <a:srgbClr val="E8F0FE"/>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245CAB"/>
                </a:solidFill>
                <a:latin typeface="PingFang SC" panose="020B0400000000000000" charset="-122"/>
              </a:rPr>
              <a:t>示例问题</a:t>
            </a:r>
            <a:endParaRPr sz="1600" b="1">
              <a:solidFill>
                <a:srgbClr val="245CAB"/>
              </a:solidFill>
              <a:latin typeface="PingFang SC" panose="020B0400000000000000" charset="-122"/>
            </a:endParaRPr>
          </a:p>
          <a:p>
            <a:pPr>
              <a:spcAft>
                <a:spcPts val="500"/>
              </a:spcAft>
            </a:pPr>
            <a:r>
              <a:rPr sz="1600">
                <a:solidFill>
                  <a:srgbClr val="122A4C"/>
                </a:solidFill>
                <a:latin typeface="PingFang SC" panose="020B0400000000000000" charset="-122"/>
              </a:rPr>
              <a:t>为什么这个设备明明有数据，但页面上还是显示离线，告警也没有触发？</a:t>
            </a:r>
            <a:endParaRPr sz="1600">
              <a:solidFill>
                <a:srgbClr val="122A4C"/>
              </a:solidFill>
              <a:latin typeface="PingFang SC" panose="020B0400000000000000" charset="-122"/>
            </a:endParaRPr>
          </a:p>
        </p:txBody>
      </p:sp>
      <p:sp>
        <p:nvSpPr>
          <p:cNvPr id="9" name="Rounded Rectangle 8"/>
          <p:cNvSpPr/>
          <p:nvPr/>
        </p:nvSpPr>
        <p:spPr>
          <a:xfrm>
            <a:off x="804672" y="2971800"/>
            <a:ext cx="5074920" cy="2834640"/>
          </a:xfrm>
          <a:prstGeom prst="roundRect">
            <a:avLst/>
          </a:prstGeom>
          <a:solidFill>
            <a:srgbClr val="FFF5D6"/>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传统 RAG 的处理方式</a:t>
            </a:r>
            <a:endParaRPr sz="1600" b="1">
              <a:solidFill>
                <a:srgbClr val="122A4C"/>
              </a:solidFill>
              <a:latin typeface="PingFang SC" panose="020B0400000000000000" charset="-122"/>
            </a:endParaRPr>
          </a:p>
          <a:p>
            <a:pPr>
              <a:spcAft>
                <a:spcPts val="500"/>
              </a:spcAft>
            </a:pPr>
            <a:r>
              <a:rPr sz="1400">
                <a:solidFill>
                  <a:srgbClr val="222222"/>
                </a:solidFill>
                <a:latin typeface="PingFang SC" panose="020B0400000000000000" charset="-122"/>
              </a:rPr>
              <a:t>查找和“设备离线”“告警未触发”最相似的文档段落。</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返回设备离线说明、告警配置说明、接口说明等内容。</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能告诉使用者可以看哪些资料，但不一定知道这些资料之间是否存在真实关系。</a:t>
            </a:r>
            <a:endParaRPr sz="1400">
              <a:solidFill>
                <a:srgbClr val="222222"/>
              </a:solidFill>
              <a:latin typeface="PingFang SC" panose="020B0400000000000000" charset="-122"/>
            </a:endParaRPr>
          </a:p>
        </p:txBody>
      </p:sp>
      <p:sp>
        <p:nvSpPr>
          <p:cNvPr id="10" name="Rounded Rectangle 9"/>
          <p:cNvSpPr/>
          <p:nvPr/>
        </p:nvSpPr>
        <p:spPr>
          <a:xfrm>
            <a:off x="6199632" y="2971800"/>
            <a:ext cx="5074920" cy="2834640"/>
          </a:xfrm>
          <a:prstGeom prst="roundRect">
            <a:avLst/>
          </a:prstGeom>
          <a:solidFill>
            <a:srgbClr val="DEEB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GraphRAG 的处理方式</a:t>
            </a:r>
            <a:endParaRPr sz="1600" b="1">
              <a:solidFill>
                <a:srgbClr val="122A4C"/>
              </a:solidFill>
              <a:latin typeface="PingFang SC" panose="020B0400000000000000" charset="-122"/>
            </a:endParaRPr>
          </a:p>
          <a:p>
            <a:pPr>
              <a:spcAft>
                <a:spcPts val="500"/>
              </a:spcAft>
            </a:pPr>
            <a:r>
              <a:rPr sz="1400">
                <a:solidFill>
                  <a:srgbClr val="222222"/>
                </a:solidFill>
                <a:latin typeface="PingFang SC" panose="020B0400000000000000" charset="-122"/>
              </a:rPr>
              <a:t>沿着“设备 -&gt; 数据上报 -&gt; 在线状态 -&gt; 告警规则 -&gt; 页面展示 -&gt; 接口 -&gt; 数据库记录”这条关系链去查。</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判断是状态表未更新、规则未启用、字段映射错误，还是页面取错了数据源。</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输出的不是几段相似文本，而是更接近问题定位路径和原因判断。</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一句话概括：传统 RAG 更像“帮忙翻资料”，GraphRAG 更像“顺着业务关系查问题”。</a:t>
            </a:r>
            <a:endParaRPr sz="1400">
              <a:solidFill>
                <a:srgbClr val="222222"/>
              </a:solidFill>
              <a:latin typeface="PingFang SC" panose="020B0400000000000000" charset="-122"/>
            </a:endParaRPr>
          </a:p>
        </p:txBody>
      </p:sp>
      <p:sp>
        <p:nvSpPr>
          <p:cNvPr id="11" name="Rounded Rectangle 10"/>
          <p:cNvSpPr/>
          <p:nvPr/>
        </p:nvSpPr>
        <p:spPr>
          <a:xfrm>
            <a:off x="804672" y="5989320"/>
            <a:ext cx="10469880" cy="658368"/>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800">
                <a:solidFill>
                  <a:srgbClr val="FFFFFF"/>
                </a:solidFill>
                <a:latin typeface="PingFang SC" panose="020B0400000000000000" charset="-122"/>
              </a:rPr>
              <a:t>一句话概括：传统 RAG 更像“帮忙翻资料”，GraphRAG 更像“顺着业务关系查问题”。</a:t>
            </a:r>
            <a:endParaRPr sz="1800">
              <a:solidFill>
                <a:srgbClr val="FFFFFF"/>
              </a:solidFill>
              <a:latin typeface="PingFang SC" panose="020B04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7</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第一阶段产出与可承诺结果</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783080"/>
            <a:ext cx="4754880" cy="329184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第一阶段产出</a:t>
            </a:r>
            <a:endParaRPr sz="1600" b="1">
              <a:solidFill>
                <a:srgbClr val="122A4C"/>
              </a:solidFill>
              <a:latin typeface="PingFang SC" panose="020B0400000000000000" charset="-122"/>
            </a:endParaRPr>
          </a:p>
          <a:p>
            <a:pPr>
              <a:spcAft>
                <a:spcPts val="500"/>
              </a:spcAft>
            </a:pPr>
            <a:r>
              <a:rPr sz="1400">
                <a:solidFill>
                  <a:srgbClr val="222222"/>
                </a:solidFill>
                <a:latin typeface="PingFang SC" panose="020B0400000000000000" charset="-122"/>
              </a:rPr>
              <a:t>一套可查询的统一知识底座。</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一批围绕高频问题的标准问答和排查路径。</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一份可对外展示的数据链说明，帮助客服、运维、研发统一认知。</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一套为第二阶段 GraphRAG 准备好的基础业务语义和关系骨架。</a:t>
            </a:r>
            <a:endParaRPr sz="1400">
              <a:solidFill>
                <a:srgbClr val="222222"/>
              </a:solidFill>
              <a:latin typeface="PingFang SC" panose="020B0400000000000000" charset="-122"/>
            </a:endParaRPr>
          </a:p>
        </p:txBody>
      </p:sp>
      <p:sp>
        <p:nvSpPr>
          <p:cNvPr id="9" name="Rounded Rectangle 8"/>
          <p:cNvSpPr/>
          <p:nvPr/>
        </p:nvSpPr>
        <p:spPr>
          <a:xfrm>
            <a:off x="5715000" y="1783080"/>
            <a:ext cx="5486400" cy="3291840"/>
          </a:xfrm>
          <a:prstGeom prst="roundRect">
            <a:avLst/>
          </a:prstGeom>
          <a:solidFill>
            <a:srgbClr val="E8F0FE"/>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建议承诺结果</a:t>
            </a:r>
            <a:endParaRPr sz="1600" b="1">
              <a:solidFill>
                <a:srgbClr val="122A4C"/>
              </a:solidFill>
              <a:latin typeface="PingFang SC" panose="020B0400000000000000" charset="-122"/>
            </a:endParaRPr>
          </a:p>
          <a:p>
            <a:pPr>
              <a:spcAft>
                <a:spcPts val="500"/>
              </a:spcAft>
            </a:pPr>
            <a:r>
              <a:rPr sz="1400">
                <a:solidFill>
                  <a:srgbClr val="222222"/>
                </a:solidFill>
                <a:latin typeface="PingFang SC" panose="020B0400000000000000" charset="-122"/>
              </a:rPr>
              <a:t>高频重复问题中，客服和运维自主完成首轮排查的比例显著提升。</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同类问题反复升级到研发的次数明显下降。</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首次响应时间明显缩短，至少先给出排查方向和依据。</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已关闭案例持续转化为知识条目，知识库规模持续增长。</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前 20 类高频问题形成统一口径和基础 SOP。</a:t>
            </a:r>
            <a:endParaRPr sz="1400">
              <a:solidFill>
                <a:srgbClr val="222222"/>
              </a:solidFill>
              <a:latin typeface="PingFang SC" panose="020B0400000000000000" charset="-122"/>
            </a:endParaRPr>
          </a:p>
        </p:txBody>
      </p:sp>
      <p:sp>
        <p:nvSpPr>
          <p:cNvPr id="10" name="Rounded Rectangle 9"/>
          <p:cNvSpPr/>
          <p:nvPr/>
        </p:nvSpPr>
        <p:spPr>
          <a:xfrm>
            <a:off x="777240" y="5394960"/>
            <a:ext cx="2423160" cy="960120"/>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FFFFFF"/>
                </a:solidFill>
                <a:latin typeface="PingFang SC" panose="020B0400000000000000" charset="-122"/>
              </a:rPr>
              <a:t>高频重复问题研发介入量下降 30% 以上。</a:t>
            </a:r>
            <a:endParaRPr sz="1300">
              <a:solidFill>
                <a:srgbClr val="FFFFFF"/>
              </a:solidFill>
              <a:latin typeface="PingFang SC" panose="020B0400000000000000" charset="-122"/>
            </a:endParaRPr>
          </a:p>
        </p:txBody>
      </p:sp>
      <p:sp>
        <p:nvSpPr>
          <p:cNvPr id="11" name="Rounded Rectangle 10"/>
          <p:cNvSpPr/>
          <p:nvPr/>
        </p:nvSpPr>
        <p:spPr>
          <a:xfrm>
            <a:off x="3611880" y="5394960"/>
            <a:ext cx="2423160" cy="960120"/>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FFFFFF"/>
                </a:solidFill>
                <a:latin typeface="PingFang SC" panose="020B0400000000000000" charset="-122"/>
              </a:rPr>
              <a:t>客服和运维独立完成首轮定位的问题占比提升 30% 以上。</a:t>
            </a:r>
            <a:endParaRPr sz="1300">
              <a:solidFill>
                <a:srgbClr val="FFFFFF"/>
              </a:solidFill>
              <a:latin typeface="PingFang SC" panose="020B0400000000000000" charset="-122"/>
            </a:endParaRPr>
          </a:p>
        </p:txBody>
      </p:sp>
      <p:sp>
        <p:nvSpPr>
          <p:cNvPr id="12" name="Rounded Rectangle 11"/>
          <p:cNvSpPr/>
          <p:nvPr/>
        </p:nvSpPr>
        <p:spPr>
          <a:xfrm>
            <a:off x="6446520" y="5394960"/>
            <a:ext cx="2423160" cy="960120"/>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FFFFFF"/>
                </a:solidFill>
                <a:latin typeface="PingFang SC" panose="020B0400000000000000" charset="-122"/>
              </a:rPr>
              <a:t>首次答复时间缩短 50% 以上。</a:t>
            </a:r>
            <a:endParaRPr sz="1300">
              <a:solidFill>
                <a:srgbClr val="FFFFFF"/>
              </a:solidFill>
              <a:latin typeface="PingFang SC" panose="020B0400000000000000" charset="-122"/>
            </a:endParaRPr>
          </a:p>
        </p:txBody>
      </p:sp>
      <p:sp>
        <p:nvSpPr>
          <p:cNvPr id="13" name="Rounded Rectangle 12"/>
          <p:cNvSpPr/>
          <p:nvPr/>
        </p:nvSpPr>
        <p:spPr>
          <a:xfrm>
            <a:off x="9281160" y="5394960"/>
            <a:ext cx="2423160" cy="960120"/>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FFFFFF"/>
                </a:solidFill>
                <a:latin typeface="PingFang SC" panose="020B0400000000000000" charset="-122"/>
              </a:rPr>
              <a:t>沉淀一批可直接复用的高频问题标准案例，并完成核心数据链样板梳理。</a:t>
            </a:r>
            <a:endParaRPr sz="1300">
              <a:solidFill>
                <a:srgbClr val="FFFFFF"/>
              </a:solidFill>
              <a:latin typeface="PingFang SC" panose="020B04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8</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长期迭代计划</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783080"/>
            <a:ext cx="5257800" cy="173736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1. 阶段 1：知识底座与数据链建设</a:t>
            </a:r>
            <a:endParaRPr sz="1600" b="1">
              <a:solidFill>
                <a:srgbClr val="122A4C"/>
              </a:solidFill>
              <a:latin typeface="PingFang SC" panose="020B0400000000000000" charset="-122"/>
            </a:endParaRPr>
          </a:p>
          <a:p>
            <a:pPr>
              <a:spcAft>
                <a:spcPts val="500"/>
              </a:spcAft>
            </a:pPr>
            <a:r>
              <a:rPr sz="1400">
                <a:solidFill>
                  <a:srgbClr val="222222"/>
                </a:solidFill>
                <a:latin typeface="PingFang SC" panose="020B0400000000000000" charset="-122"/>
              </a:rPr>
              <a:t>建设统一知识库、标准问答、排查 SOP、数据链说明。</a:t>
            </a:r>
            <a:endParaRPr sz="1400">
              <a:solidFill>
                <a:srgbClr val="222222"/>
              </a:solidFill>
              <a:latin typeface="PingFang SC" panose="020B0400000000000000" charset="-122"/>
            </a:endParaRPr>
          </a:p>
        </p:txBody>
      </p:sp>
      <p:sp>
        <p:nvSpPr>
          <p:cNvPr id="9" name="Rounded Rectangle 8"/>
          <p:cNvSpPr/>
          <p:nvPr/>
        </p:nvSpPr>
        <p:spPr>
          <a:xfrm>
            <a:off x="6126480" y="1783080"/>
            <a:ext cx="5257800" cy="1737360"/>
          </a:xfrm>
          <a:prstGeom prst="roundRect">
            <a:avLst/>
          </a:prstGeom>
          <a:solidFill>
            <a:srgbClr val="DEEB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2. 阶段 2：业务语义理解与 GraphRAG 基础建设</a:t>
            </a:r>
            <a:endParaRPr sz="1600" b="1">
              <a:solidFill>
                <a:srgbClr val="122A4C"/>
              </a:solidFill>
              <a:latin typeface="PingFang SC" panose="020B0400000000000000" charset="-122"/>
            </a:endParaRPr>
          </a:p>
          <a:p>
            <a:pPr>
              <a:spcAft>
                <a:spcPts val="500"/>
              </a:spcAft>
            </a:pPr>
            <a:r>
              <a:rPr sz="1400">
                <a:solidFill>
                  <a:srgbClr val="222222"/>
                </a:solidFill>
                <a:latin typeface="PingFang SC" panose="020B0400000000000000" charset="-122"/>
              </a:rPr>
              <a:t>围绕设备、项目、协议、字段、规则、告警、任务、页面建设业务图谱。</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支撑跨源实体关联、关系推理和更复杂的问题定位。</a:t>
            </a:r>
            <a:endParaRPr sz="1400">
              <a:solidFill>
                <a:srgbClr val="222222"/>
              </a:solidFill>
              <a:latin typeface="PingFang SC" panose="020B0400000000000000" charset="-122"/>
            </a:endParaRPr>
          </a:p>
        </p:txBody>
      </p:sp>
      <p:sp>
        <p:nvSpPr>
          <p:cNvPr id="10" name="Rounded Rectangle 9"/>
          <p:cNvSpPr/>
          <p:nvPr/>
        </p:nvSpPr>
        <p:spPr>
          <a:xfrm>
            <a:off x="777240" y="3886200"/>
            <a:ext cx="5257800" cy="1737360"/>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3. 阶段 3：后台服务 MCP 化与角色化智能体入口</a:t>
            </a:r>
            <a:endParaRPr sz="1600" b="1">
              <a:solidFill>
                <a:srgbClr val="122A4C"/>
              </a:solidFill>
              <a:latin typeface="PingFang SC" panose="020B0400000000000000" charset="-122"/>
            </a:endParaRPr>
          </a:p>
          <a:p>
            <a:pPr>
              <a:spcAft>
                <a:spcPts val="500"/>
              </a:spcAft>
            </a:pPr>
            <a:r>
              <a:rPr sz="1400">
                <a:solidFill>
                  <a:srgbClr val="222222"/>
                </a:solidFill>
                <a:latin typeface="PingFang SC" panose="020B0400000000000000" charset="-122"/>
              </a:rPr>
              <a:t>将现有查询类和执行类后台能力封装为 MCP 工具。</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按角色、项目、数据范围和风险等级进行权限治理。</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让用户、客服、运维、开发逐步直接面向智能体工作。</a:t>
            </a:r>
            <a:endParaRPr sz="1400">
              <a:solidFill>
                <a:srgbClr val="222222"/>
              </a:solidFill>
              <a:latin typeface="PingFang SC" panose="020B0400000000000000" charset="-122"/>
            </a:endParaRPr>
          </a:p>
        </p:txBody>
      </p:sp>
      <p:sp>
        <p:nvSpPr>
          <p:cNvPr id="11" name="Rounded Rectangle 10"/>
          <p:cNvSpPr/>
          <p:nvPr/>
        </p:nvSpPr>
        <p:spPr>
          <a:xfrm>
            <a:off x="6126480" y="3886200"/>
            <a:ext cx="5257800" cy="1737360"/>
          </a:xfrm>
          <a:prstGeom prst="roundRect">
            <a:avLst/>
          </a:prstGeom>
          <a:solidFill>
            <a:srgbClr val="E8F0FE"/>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122A4C"/>
                </a:solidFill>
                <a:latin typeface="PingFang SC" panose="020B0400000000000000" charset="-122"/>
              </a:rPr>
              <a:t>4. 阶段 4：诊断闭环与智能运营</a:t>
            </a:r>
            <a:endParaRPr sz="1600" b="1">
              <a:solidFill>
                <a:srgbClr val="122A4C"/>
              </a:solidFill>
              <a:latin typeface="PingFang SC" panose="020B0400000000000000" charset="-122"/>
            </a:endParaRPr>
          </a:p>
          <a:p>
            <a:pPr>
              <a:spcAft>
                <a:spcPts val="500"/>
              </a:spcAft>
            </a:pPr>
            <a:r>
              <a:rPr sz="1400">
                <a:solidFill>
                  <a:srgbClr val="222222"/>
                </a:solidFill>
                <a:latin typeface="PingFang SC" panose="020B0400000000000000" charset="-122"/>
              </a:rPr>
              <a:t>打通知识回流、路径固化、案例复用、审批执行、效果评估与持续优化。</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逐步形成问题识别、证据汇聚、诊断建议、审批执行、结果回流、知识沉淀的闭环。</a:t>
            </a:r>
            <a:endParaRPr sz="1400">
              <a:solidFill>
                <a:srgbClr val="222222"/>
              </a:solidFill>
              <a:latin typeface="PingFang SC" panose="020B0400000000000000" charset="-122"/>
            </a:endParaRPr>
          </a:p>
          <a:p>
            <a:pPr>
              <a:spcAft>
                <a:spcPts val="500"/>
              </a:spcAft>
            </a:pPr>
            <a:r>
              <a:rPr sz="1400">
                <a:solidFill>
                  <a:srgbClr val="222222"/>
                </a:solidFill>
                <a:latin typeface="PingFang SC" panose="020B0400000000000000" charset="-122"/>
              </a:rPr>
              <a:t>形成“用户提问 -&gt; 图谱定位可能问题 -&gt; MCP 查询数据验证 -&gt; LLM 综合推定 -&gt; 输出最终结果”的核心诊断链路，并支持多层深链调用与全程证据可追溯。</a:t>
            </a:r>
            <a:endParaRPr sz="1400">
              <a:solidFill>
                <a:srgbClr val="222222"/>
              </a:solidFill>
              <a:latin typeface="PingFang SC" panose="020B04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9</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角色化智能体与安全治理</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783080"/>
            <a:ext cx="4983480" cy="749808"/>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222222"/>
                </a:solidFill>
                <a:latin typeface="PingFang SC" panose="020B0400000000000000" charset="-122"/>
              </a:rPr>
              <a:t>客服：以知识检索、案例问答、摘要查看、问题建单为主，只开放低风险查询类工具。</a:t>
            </a:r>
            <a:endParaRPr sz="1300">
              <a:solidFill>
                <a:srgbClr val="222222"/>
              </a:solidFill>
              <a:latin typeface="PingFang SC" panose="020B0400000000000000" charset="-122"/>
            </a:endParaRPr>
          </a:p>
        </p:txBody>
      </p:sp>
      <p:sp>
        <p:nvSpPr>
          <p:cNvPr id="9" name="Rounded Rectangle 8"/>
          <p:cNvSpPr/>
          <p:nvPr/>
        </p:nvSpPr>
        <p:spPr>
          <a:xfrm>
            <a:off x="777240" y="2651760"/>
            <a:ext cx="4983480" cy="749808"/>
          </a:xfrm>
          <a:prstGeom prst="roundRect">
            <a:avLst/>
          </a:prstGeom>
          <a:solidFill>
            <a:srgbClr val="DEEB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222222"/>
                </a:solidFill>
                <a:latin typeface="PingFang SC" panose="020B0400000000000000" charset="-122"/>
              </a:rPr>
              <a:t>运维：可查看详细证据、发起诊断、调用授权查询工具、发起审批申请。</a:t>
            </a:r>
            <a:endParaRPr sz="1300">
              <a:solidFill>
                <a:srgbClr val="222222"/>
              </a:solidFill>
              <a:latin typeface="PingFang SC" panose="020B0400000000000000" charset="-122"/>
            </a:endParaRPr>
          </a:p>
        </p:txBody>
      </p:sp>
      <p:sp>
        <p:nvSpPr>
          <p:cNvPr id="10" name="Rounded Rectangle 9"/>
          <p:cNvSpPr/>
          <p:nvPr/>
        </p:nvSpPr>
        <p:spPr>
          <a:xfrm>
            <a:off x="777240" y="3520439"/>
            <a:ext cx="4983480" cy="749808"/>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222222"/>
                </a:solidFill>
                <a:latin typeface="PingFang SC" panose="020B0400000000000000" charset="-122"/>
              </a:rPr>
              <a:t>开发：可查看更完整的调用链、数据链、日志证据和技术上下文，用于复杂问题定位。</a:t>
            </a:r>
            <a:endParaRPr sz="1300">
              <a:solidFill>
                <a:srgbClr val="222222"/>
              </a:solidFill>
              <a:latin typeface="PingFang SC" panose="020B0400000000000000" charset="-122"/>
            </a:endParaRPr>
          </a:p>
        </p:txBody>
      </p:sp>
      <p:sp>
        <p:nvSpPr>
          <p:cNvPr id="11" name="Rounded Rectangle 10"/>
          <p:cNvSpPr/>
          <p:nvPr/>
        </p:nvSpPr>
        <p:spPr>
          <a:xfrm>
            <a:off x="777240" y="4389120"/>
            <a:ext cx="4983480" cy="749808"/>
          </a:xfrm>
          <a:prstGeom prst="roundRect">
            <a:avLst/>
          </a:prstGeom>
          <a:solidFill>
            <a:srgbClr val="E8F0FE"/>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222222"/>
                </a:solidFill>
                <a:latin typeface="PingFang SC" panose="020B0400000000000000" charset="-122"/>
              </a:rPr>
              <a:t>管理员：负责工具启停、白名单、权限范围、模型配置和全局治理。</a:t>
            </a:r>
            <a:endParaRPr sz="1300">
              <a:solidFill>
                <a:srgbClr val="222222"/>
              </a:solidFill>
              <a:latin typeface="PingFang SC" panose="020B0400000000000000" charset="-122"/>
            </a:endParaRPr>
          </a:p>
        </p:txBody>
      </p:sp>
      <p:sp>
        <p:nvSpPr>
          <p:cNvPr id="12" name="Rounded Rectangle 11"/>
          <p:cNvSpPr/>
          <p:nvPr/>
        </p:nvSpPr>
        <p:spPr>
          <a:xfrm>
            <a:off x="777240" y="5257800"/>
            <a:ext cx="4983480" cy="749808"/>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300">
                <a:solidFill>
                  <a:srgbClr val="222222"/>
                </a:solidFill>
                <a:latin typeface="PingFang SC" panose="020B0400000000000000" charset="-122"/>
              </a:rPr>
              <a:t>审计：只读查看执行记录、审批记录和工具调用留痕。</a:t>
            </a:r>
            <a:endParaRPr sz="1300">
              <a:solidFill>
                <a:srgbClr val="222222"/>
              </a:solidFill>
              <a:latin typeface="PingFang SC" panose="020B0400000000000000" charset="-122"/>
            </a:endParaRPr>
          </a:p>
        </p:txBody>
      </p:sp>
      <p:sp>
        <p:nvSpPr>
          <p:cNvPr id="13" name="Rounded Rectangle 12"/>
          <p:cNvSpPr/>
          <p:nvPr/>
        </p:nvSpPr>
        <p:spPr>
          <a:xfrm>
            <a:off x="6035040" y="1783080"/>
            <a:ext cx="5212080" cy="4526280"/>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FFFFFF"/>
                </a:solidFill>
                <a:latin typeface="PingFang SC" panose="020B0400000000000000" charset="-122"/>
              </a:rPr>
              <a:t>安全与治理原则</a:t>
            </a:r>
            <a:endParaRPr sz="1600" b="1">
              <a:solidFill>
                <a:srgbClr val="FFFFFF"/>
              </a:solidFill>
              <a:latin typeface="PingFang SC" panose="020B0400000000000000" charset="-122"/>
            </a:endParaRPr>
          </a:p>
          <a:p>
            <a:pPr>
              <a:spcAft>
                <a:spcPts val="500"/>
              </a:spcAft>
            </a:pPr>
            <a:r>
              <a:rPr sz="1500">
                <a:solidFill>
                  <a:srgbClr val="FFFFFF"/>
                </a:solidFill>
                <a:latin typeface="PingFang SC" panose="020B0400000000000000" charset="-122"/>
              </a:rPr>
              <a:t>查询类与执行类工具严格分离，执行类动作不能由智能体直接放行。</a:t>
            </a:r>
            <a:endParaRPr sz="1500">
              <a:solidFill>
                <a:srgbClr val="FFFFFF"/>
              </a:solidFill>
              <a:latin typeface="PingFang SC" panose="020B0400000000000000" charset="-122"/>
            </a:endParaRPr>
          </a:p>
          <a:p>
            <a:pPr>
              <a:spcAft>
                <a:spcPts val="500"/>
              </a:spcAft>
            </a:pPr>
            <a:r>
              <a:rPr sz="1500">
                <a:solidFill>
                  <a:srgbClr val="FFFFFF"/>
                </a:solidFill>
                <a:latin typeface="PingFang SC" panose="020B0400000000000000" charset="-122"/>
              </a:rPr>
              <a:t>所有工具调用必须带角色权限、项目范围和审计上下文，避免误操作和数据泄露。</a:t>
            </a:r>
            <a:endParaRPr sz="1500">
              <a:solidFill>
                <a:srgbClr val="FFFFFF"/>
              </a:solidFill>
              <a:latin typeface="PingFang SC" panose="020B0400000000000000" charset="-122"/>
            </a:endParaRPr>
          </a:p>
          <a:p>
            <a:pPr>
              <a:spcAft>
                <a:spcPts val="500"/>
              </a:spcAft>
            </a:pPr>
            <a:r>
              <a:rPr sz="1500">
                <a:solidFill>
                  <a:srgbClr val="FFFFFF"/>
                </a:solidFill>
                <a:latin typeface="PingFang SC" panose="020B0400000000000000" charset="-122"/>
              </a:rPr>
              <a:t>高风险动作必须经过审批流，确保系统可控、可审计、可治理。</a:t>
            </a:r>
            <a:endParaRPr sz="1500">
              <a:solidFill>
                <a:srgbClr val="FFFFFF"/>
              </a:solidFill>
              <a:latin typeface="PingFang SC" panose="020B04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11480"/>
            <a:ext cx="2194560" cy="2194560"/>
          </a:xfrm>
          <a:prstGeom prst="ellipse">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457200"/>
            <a:ext cx="1371600" cy="384048"/>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PPT 页 10</a:t>
            </a:r>
            <a:endParaRPr sz="1000" b="1">
              <a:solidFill>
                <a:srgbClr val="FFFFFF"/>
              </a:solidFill>
              <a:latin typeface="PingFang SC" panose="020B0400000000000000" charset="-122"/>
            </a:endParaRPr>
          </a:p>
        </p:txBody>
      </p:sp>
      <p:sp>
        <p:nvSpPr>
          <p:cNvPr id="6" name="TextBox 5"/>
          <p:cNvSpPr txBox="1"/>
          <p:nvPr/>
        </p:nvSpPr>
        <p:spPr>
          <a:xfrm>
            <a:off x="731520" y="914400"/>
            <a:ext cx="9875520" cy="594360"/>
          </a:xfrm>
          <a:prstGeom prst="rect">
            <a:avLst/>
          </a:prstGeom>
          <a:noFill/>
        </p:spPr>
        <p:txBody>
          <a:bodyPr wrap="none">
            <a:spAutoFit/>
          </a:bodyPr>
          <a:lstStyle/>
          <a:p>
            <a:r>
              <a:rPr sz="2400" b="1">
                <a:solidFill>
                  <a:srgbClr val="122A4C"/>
                </a:solidFill>
                <a:latin typeface="PingFang SC" panose="020B0400000000000000" charset="-122"/>
              </a:rPr>
              <a:t>汇报总结</a:t>
            </a:r>
            <a:endParaRPr sz="2400" b="1">
              <a:solidFill>
                <a:srgbClr val="122A4C"/>
              </a:solidFill>
              <a:latin typeface="PingFang SC" panose="020B0400000000000000" charset="-122"/>
            </a:endParaRPr>
          </a:p>
        </p:txBody>
      </p:sp>
      <p:sp>
        <p:nvSpPr>
          <p:cNvPr id="7" name="Rectangle 6"/>
          <p:cNvSpPr/>
          <p:nvPr/>
        </p:nvSpPr>
        <p:spPr>
          <a:xfrm>
            <a:off x="749808" y="1481328"/>
            <a:ext cx="1280160" cy="73152"/>
          </a:xfrm>
          <a:prstGeom prst="rect">
            <a:avLst/>
          </a:prstGeom>
          <a:solidFill>
            <a:srgbClr val="245C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783080"/>
            <a:ext cx="1188720" cy="329184"/>
          </a:xfrm>
          <a:prstGeom prst="round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PingFang SC" panose="020B0400000000000000" charset="-122"/>
              </a:rPr>
              <a:t>核心结论</a:t>
            </a:r>
            <a:endParaRPr sz="1000" b="1">
              <a:solidFill>
                <a:srgbClr val="FFFFFF"/>
              </a:solidFill>
              <a:latin typeface="PingFang SC" panose="020B0400000000000000" charset="-122"/>
            </a:endParaRPr>
          </a:p>
        </p:txBody>
      </p:sp>
      <p:sp>
        <p:nvSpPr>
          <p:cNvPr id="9" name="Rounded Rectangle 8"/>
          <p:cNvSpPr/>
          <p:nvPr/>
        </p:nvSpPr>
        <p:spPr>
          <a:xfrm>
            <a:off x="804672" y="2148840"/>
            <a:ext cx="10424160" cy="914400"/>
          </a:xfrm>
          <a:prstGeom prst="roundRect">
            <a:avLst/>
          </a:prstGeom>
          <a:solidFill>
            <a:srgbClr val="FDEBEB"/>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500"/>
              </a:spcAft>
            </a:pPr>
            <a:r>
              <a:rPr sz="1800">
                <a:solidFill>
                  <a:srgbClr val="122A4C"/>
                </a:solidFill>
                <a:latin typeface="PingFang SC" panose="020B0400000000000000" charset="-122"/>
              </a:rPr>
              <a:t>第一阶段部署 LightRAG，不是做一个概念化 AI 项目。</a:t>
            </a:r>
            <a:endParaRPr sz="1800">
              <a:solidFill>
                <a:srgbClr val="122A4C"/>
              </a:solidFill>
              <a:latin typeface="PingFang SC" panose="020B0400000000000000" charset="-122"/>
            </a:endParaRPr>
          </a:p>
        </p:txBody>
      </p:sp>
      <p:sp>
        <p:nvSpPr>
          <p:cNvPr id="10" name="Rounded Rectangle 9"/>
          <p:cNvSpPr/>
          <p:nvPr/>
        </p:nvSpPr>
        <p:spPr>
          <a:xfrm>
            <a:off x="804672" y="3291840"/>
            <a:ext cx="3246120" cy="1874519"/>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245CAB"/>
                </a:solidFill>
                <a:latin typeface="PingFang SC" panose="020B0400000000000000" charset="-122"/>
              </a:rPr>
              <a:t>本质</a:t>
            </a:r>
            <a:endParaRPr sz="1600" b="1">
              <a:solidFill>
                <a:srgbClr val="245CAB"/>
              </a:solidFill>
              <a:latin typeface="PingFang SC" panose="020B0400000000000000" charset="-122"/>
            </a:endParaRPr>
          </a:p>
          <a:p>
            <a:pPr>
              <a:spcAft>
                <a:spcPts val="500"/>
              </a:spcAft>
            </a:pPr>
            <a:r>
              <a:rPr sz="1500">
                <a:solidFill>
                  <a:srgbClr val="222222"/>
                </a:solidFill>
                <a:latin typeface="PingFang SC" panose="020B0400000000000000" charset="-122"/>
              </a:rPr>
              <a:t>本质上是先把公司现有文档、配置说明、历史案例、数据库与接口脉络整理成一套可服务客服和运维的知识助手与数据链说明。</a:t>
            </a:r>
            <a:endParaRPr sz="1500">
              <a:solidFill>
                <a:srgbClr val="222222"/>
              </a:solidFill>
              <a:latin typeface="PingFang SC" panose="020B0400000000000000" charset="-122"/>
            </a:endParaRPr>
          </a:p>
        </p:txBody>
      </p:sp>
      <p:sp>
        <p:nvSpPr>
          <p:cNvPr id="11" name="Rounded Rectangle 10"/>
          <p:cNvSpPr/>
          <p:nvPr/>
        </p:nvSpPr>
        <p:spPr>
          <a:xfrm>
            <a:off x="4187952" y="3291840"/>
            <a:ext cx="3246120" cy="1874519"/>
          </a:xfrm>
          <a:prstGeom prst="roundRect">
            <a:avLst/>
          </a:prstGeom>
          <a:solidFill>
            <a:srgbClr val="E8F0FE"/>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245CAB"/>
                </a:solidFill>
                <a:latin typeface="PingFang SC" panose="020B0400000000000000" charset="-122"/>
              </a:rPr>
              <a:t>直接价值</a:t>
            </a:r>
            <a:endParaRPr sz="1600" b="1">
              <a:solidFill>
                <a:srgbClr val="245CAB"/>
              </a:solidFill>
              <a:latin typeface="PingFang SC" panose="020B0400000000000000" charset="-122"/>
            </a:endParaRPr>
          </a:p>
          <a:p>
            <a:pPr>
              <a:spcAft>
                <a:spcPts val="500"/>
              </a:spcAft>
            </a:pPr>
            <a:r>
              <a:rPr sz="1500">
                <a:solidFill>
                  <a:srgbClr val="222222"/>
                </a:solidFill>
                <a:latin typeface="PingFang SC" panose="020B0400000000000000" charset="-122"/>
              </a:rPr>
              <a:t>它的直接价值是减少重复依赖研发、缩短问题响应时间、形成标准排查路径、沉淀企业知识资产。</a:t>
            </a:r>
            <a:endParaRPr sz="1500">
              <a:solidFill>
                <a:srgbClr val="222222"/>
              </a:solidFill>
              <a:latin typeface="PingFang SC" panose="020B0400000000000000" charset="-122"/>
            </a:endParaRPr>
          </a:p>
        </p:txBody>
      </p:sp>
      <p:sp>
        <p:nvSpPr>
          <p:cNvPr id="12" name="Rounded Rectangle 11"/>
          <p:cNvSpPr/>
          <p:nvPr/>
        </p:nvSpPr>
        <p:spPr>
          <a:xfrm>
            <a:off x="7571231" y="3291840"/>
            <a:ext cx="3648456" cy="1874519"/>
          </a:xfrm>
          <a:prstGeom prst="roundRect">
            <a:avLst/>
          </a:prstGeom>
          <a:solidFill>
            <a:srgbClr val="FFFFFF"/>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245CAB"/>
                </a:solidFill>
                <a:latin typeface="PingFang SC" panose="020B0400000000000000" charset="-122"/>
              </a:rPr>
              <a:t>长期价值</a:t>
            </a:r>
            <a:endParaRPr sz="1600" b="1">
              <a:solidFill>
                <a:srgbClr val="245CAB"/>
              </a:solidFill>
              <a:latin typeface="PingFang SC" panose="020B0400000000000000" charset="-122"/>
            </a:endParaRPr>
          </a:p>
          <a:p>
            <a:pPr>
              <a:spcAft>
                <a:spcPts val="500"/>
              </a:spcAft>
            </a:pPr>
            <a:r>
              <a:rPr sz="1500">
                <a:solidFill>
                  <a:srgbClr val="222222"/>
                </a:solidFill>
                <a:latin typeface="PingFang SC" panose="020B0400000000000000" charset="-122"/>
              </a:rPr>
              <a:t>它的长期价值是为 GraphRAG、MCP 工具化和角色化智能体建立真正可落地的底座。</a:t>
            </a:r>
            <a:endParaRPr sz="1500">
              <a:solidFill>
                <a:srgbClr val="222222"/>
              </a:solidFill>
              <a:latin typeface="PingFang SC" panose="020B0400000000000000" charset="-122"/>
            </a:endParaRPr>
          </a:p>
        </p:txBody>
      </p:sp>
      <p:sp>
        <p:nvSpPr>
          <p:cNvPr id="13" name="Rounded Rectangle 12"/>
          <p:cNvSpPr/>
          <p:nvPr/>
        </p:nvSpPr>
        <p:spPr>
          <a:xfrm>
            <a:off x="804545" y="5440680"/>
            <a:ext cx="10424160" cy="1202690"/>
          </a:xfrm>
          <a:prstGeom prst="roundRect">
            <a:avLst/>
          </a:prstGeom>
          <a:solidFill>
            <a:srgbClr val="122A4C"/>
          </a:solidFill>
          <a:ln>
            <a:solidFill>
              <a:srgbClr val="E1E7EF"/>
            </a:solidFill>
          </a:ln>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ctr"/>
          <a:lstStyle/>
          <a:p>
            <a:pPr algn="ctr">
              <a:spcAft>
                <a:spcPts val="700"/>
              </a:spcAft>
            </a:pPr>
            <a:r>
              <a:rPr sz="1600" b="1">
                <a:solidFill>
                  <a:srgbClr val="FFFFFF"/>
                </a:solidFill>
                <a:latin typeface="PingFang SC" panose="020B0400000000000000" charset="-122"/>
              </a:rPr>
              <a:t>最终形态</a:t>
            </a:r>
            <a:endParaRPr sz="1600" b="1">
              <a:solidFill>
                <a:srgbClr val="FFFFFF"/>
              </a:solidFill>
              <a:latin typeface="PingFang SC" panose="020B0400000000000000" charset="-122"/>
            </a:endParaRPr>
          </a:p>
          <a:p>
            <a:pPr>
              <a:spcAft>
                <a:spcPts val="500"/>
              </a:spcAft>
            </a:pPr>
            <a:r>
              <a:rPr sz="1700">
                <a:solidFill>
                  <a:srgbClr val="FFFFFF"/>
                </a:solidFill>
                <a:latin typeface="PingFang SC" panose="020B0400000000000000" charset="-122"/>
              </a:rPr>
              <a:t>系统最终达成的效果，是能够直接面对用户问题，基于业务图谱快速锁定可能原因，联动 MCP 工具查询实时数据完成验证，再由 LLM 基于完整证据链给出最终判断和处理建议，实现可解释、可验证、可闭环的智能诊断。</a:t>
            </a:r>
            <a:endParaRPr sz="1700">
              <a:solidFill>
                <a:srgbClr val="FFFFFF"/>
              </a:solidFill>
              <a:latin typeface="PingFang SC" panose="020B0400000000000000"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2983</Words>
  <Application>WPS 演示</Application>
  <PresentationFormat>On-screen Show (4:3)</PresentationFormat>
  <Paragraphs>216</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宋体</vt:lpstr>
      <vt:lpstr>Wingdings</vt:lpstr>
      <vt:lpstr>Arial</vt:lpstr>
      <vt:lpstr>PingFang SC</vt:lpstr>
      <vt:lpstr>Calibri</vt:lpstr>
      <vt:lpstr>Helvetica Neue</vt:lpstr>
      <vt:lpstr>宋体</vt:lpstr>
      <vt:lpstr>宋体-简</vt:lpstr>
      <vt:lpstr>微软雅黑</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飞鸿张</cp:lastModifiedBy>
  <cp:revision>11</cp:revision>
  <dcterms:created xsi:type="dcterms:W3CDTF">2026-05-27T09:53:22Z</dcterms:created>
  <dcterms:modified xsi:type="dcterms:W3CDTF">2026-05-27T09:53:22Z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C7B4C5957A5C9E3E87BD166A171FD075_42</vt:lpwstr>
  </property>
  <property fmtid="{D5CDD505-2E9C-101B-9397-08002B2CF9AE}" pid="3" name="KSOProductBuildVer">
    <vt:lpwstr>2052-12.1.23143.23143</vt:lpwstr>
  </property>
</Properties>
</file>