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A33"/>
          </a:solidFill>
          <a:ln w="12700">
            <a:solidFill>
              <a:srgbClr val="081A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4236415" cy="6858000"/>
          </a:xfrm>
          <a:prstGeom prst="rect">
            <a:avLst/>
          </a:prstGeom>
          <a:solidFill>
            <a:srgbClr val="0D2B4F"/>
          </a:solidFill>
          <a:ln w="12700">
            <a:solidFill>
              <a:srgbClr val="0D2B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03110" y="3437890"/>
            <a:ext cx="3200400" cy="3200400"/>
          </a:xfrm>
          <a:prstGeom prst="ellipse">
            <a:avLst/>
          </a:prstGeom>
          <a:solidFill>
            <a:srgbClr val="14B8A6">
              <a:alpha val="65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457200"/>
            <a:ext cx="2103120" cy="2103120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822960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B8D6F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BUSINESS DIAGNOSIS PLATFORM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5303520" cy="1417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业务智能诊断平台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DCE9F5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懂业务、能诊断、可追溯、能闭环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E6EEF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围绕船舶告警、巡查卫士、设备状态、接口调用、数据库结构和工单流转，构建一个可连接真实系统的智能协同与诊断中台。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4754880"/>
            <a:ext cx="2265680" cy="346075"/>
          </a:xfrm>
          <a:prstGeom prst="roundRect">
            <a:avLst>
              <a:gd name="adj" fmla="val 14286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4837176"/>
            <a:ext cx="274320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LightGraph + MCP + 知识图谱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566928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D7E5F4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面向：客服 / 运维 / 实施 / 研发 / 管理 / 审计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7E5F4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目标：让复杂业务问题在同一条证据链上闭环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183880" y="96012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66760" y="1106424"/>
            <a:ext cx="288036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不是问答框</a:t>
            </a:r>
            <a:endParaRPr lang="zh-CN" sz="1200" dirty="0"/>
          </a:p>
        </p:txBody>
      </p:sp>
      <p:sp>
        <p:nvSpPr>
          <p:cNvPr id="15" name="Text 13"/>
          <p:cNvSpPr/>
          <p:nvPr/>
        </p:nvSpPr>
        <p:spPr>
          <a:xfrm>
            <a:off x="8366760" y="1389888"/>
            <a:ext cx="2880360" cy="4297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5B68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系统理解页面、接口、数据、设备、权限和工单，不只是匹配知识库文本。</a:t>
            </a:r>
            <a:endParaRPr lang="zh-CN" sz="1000" dirty="0"/>
          </a:p>
        </p:txBody>
      </p:sp>
      <p:sp>
        <p:nvSpPr>
          <p:cNvPr id="16" name="Shape 14"/>
          <p:cNvSpPr/>
          <p:nvPr/>
        </p:nvSpPr>
        <p:spPr>
          <a:xfrm>
            <a:off x="8183880" y="214884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EAF2FF"/>
          </a:solidFill>
          <a:ln w="12700">
            <a:solidFill>
              <a:srgbClr val="D9E3EC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66760" y="2295144"/>
            <a:ext cx="288036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0F172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连接真实系统</a:t>
            </a:r>
            <a:endParaRPr lang="zh-CN" sz="1200" dirty="0"/>
          </a:p>
        </p:txBody>
      </p:sp>
      <p:sp>
        <p:nvSpPr>
          <p:cNvPr id="18" name="Text 16"/>
          <p:cNvSpPr/>
          <p:nvPr/>
        </p:nvSpPr>
        <p:spPr>
          <a:xfrm>
            <a:off x="8366760" y="2578608"/>
            <a:ext cx="2880360" cy="4297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通过受控 MCP 查询真实数据，按权限、脱敏和审计边界执行。</a:t>
            </a:r>
            <a:endParaRPr lang="zh-CN" sz="1000" dirty="0"/>
          </a:p>
        </p:txBody>
      </p:sp>
      <p:sp>
        <p:nvSpPr>
          <p:cNvPr id="19" name="Shape 17"/>
          <p:cNvSpPr/>
          <p:nvPr/>
        </p:nvSpPr>
        <p:spPr>
          <a:xfrm>
            <a:off x="8183880" y="333756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E6FFFA"/>
          </a:solidFill>
          <a:ln w="12700">
            <a:solidFill>
              <a:srgbClr val="D9E3EC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66760" y="3483864"/>
            <a:ext cx="288036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0F172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形成诊断链路</a:t>
            </a:r>
            <a:endParaRPr lang="zh-CN" sz="1200" dirty="0"/>
          </a:p>
        </p:txBody>
      </p:sp>
      <p:sp>
        <p:nvSpPr>
          <p:cNvPr id="21" name="Text 19"/>
          <p:cNvSpPr/>
          <p:nvPr/>
        </p:nvSpPr>
        <p:spPr>
          <a:xfrm>
            <a:off x="8366760" y="3767328"/>
            <a:ext cx="2880360" cy="4297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从用户问题到证据链、根因、责任人、工单草案，形成可追溯结果。</a:t>
            </a:r>
            <a:endParaRPr lang="zh-CN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452628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EF3C7"/>
          </a:solidFill>
          <a:ln w="12700">
            <a:solidFill>
              <a:srgbClr val="D9E3EC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366760" y="4672584"/>
            <a:ext cx="288036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0F172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持续沉淀资产</a:t>
            </a:r>
            <a:endParaRPr lang="zh-CN" sz="1200" dirty="0"/>
          </a:p>
        </p:txBody>
      </p:sp>
      <p:sp>
        <p:nvSpPr>
          <p:cNvPr id="24" name="Text 22"/>
          <p:cNvSpPr/>
          <p:nvPr/>
        </p:nvSpPr>
        <p:spPr>
          <a:xfrm>
            <a:off x="8366760" y="4956048"/>
            <a:ext cx="2880360" cy="4297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每次排障沉淀为历史案例与业务图谱，越用越懂业务。</a:t>
            </a:r>
            <a:endParaRPr lang="zh-CN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EAF2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核心定位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5097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不是聊天能力，而是业务诊断能力</a:t>
            </a:r>
            <a:endParaRPr lang="zh-CN" sz="2400" dirty="0"/>
          </a:p>
        </p:txBody>
      </p:sp>
      <p:sp>
        <p:nvSpPr>
          <p:cNvPr id="5" name="Shape 3"/>
          <p:cNvSpPr/>
          <p:nvPr/>
        </p:nvSpPr>
        <p:spPr>
          <a:xfrm>
            <a:off x="10863072" y="438912"/>
            <a:ext cx="658368" cy="384048"/>
          </a:xfrm>
          <a:prstGeom prst="roundRect">
            <a:avLst>
              <a:gd name="adj" fmla="val 19048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63072" y="50292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01</a:t>
            </a:r>
            <a:endParaRPr lang="zh-CN" sz="1100" dirty="0"/>
          </a:p>
        </p:txBody>
      </p:sp>
      <p:sp>
        <p:nvSpPr>
          <p:cNvPr id="7" name="Shape 5"/>
          <p:cNvSpPr/>
          <p:nvPr/>
        </p:nvSpPr>
        <p:spPr>
          <a:xfrm>
            <a:off x="713232" y="141732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563624"/>
            <a:ext cx="498348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1. 能回答是什么</a:t>
            </a:r>
            <a:endParaRPr lang="zh-CN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1847088"/>
            <a:ext cx="4983480" cy="12984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5B68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把船舶、告警、设备、巡查、页面入口和数据库字段组织成业务语义，降低系统学习成本。</a:t>
            </a:r>
            <a:endParaRPr lang="zh-CN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EAF2FF"/>
          </a:solidFill>
          <a:ln w="12700">
            <a:solidFill>
              <a:srgbClr val="D9E3EC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563624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0F172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2. 能解释为什么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6355080" y="1847088"/>
            <a:ext cx="4937760" cy="12984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从定位、权限、消息、视频、接口、状态口径等链路给出原因，而不是只返回页面说明。</a:t>
            </a:r>
            <a:endParaRPr lang="zh-CN" sz="1000" dirty="0"/>
          </a:p>
        </p:txBody>
      </p:sp>
      <p:sp>
        <p:nvSpPr>
          <p:cNvPr id="13" name="Shape 11"/>
          <p:cNvSpPr/>
          <p:nvPr/>
        </p:nvSpPr>
        <p:spPr>
          <a:xfrm>
            <a:off x="713232" y="3547872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E6FFFA"/>
          </a:solidFill>
          <a:ln w="12700">
            <a:solidFill>
              <a:srgbClr val="D9E3EC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" y="3694176"/>
            <a:ext cx="498348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0F172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3. 能指出查哪里</a:t>
            </a:r>
            <a:endParaRPr lang="zh-CN" sz="1200" dirty="0"/>
          </a:p>
        </p:txBody>
      </p:sp>
      <p:sp>
        <p:nvSpPr>
          <p:cNvPr id="15" name="Text 13"/>
          <p:cNvSpPr/>
          <p:nvPr/>
        </p:nvSpPr>
        <p:spPr>
          <a:xfrm>
            <a:off x="896112" y="3977640"/>
            <a:ext cx="4983480" cy="12984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把自然语言问题转成接口、表、日志、配置和页面入口的可执行排查路径。</a:t>
            </a:r>
            <a:endParaRPr lang="zh-CN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3547872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2700">
            <a:solidFill>
              <a:srgbClr val="D9E3EC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55080" y="3694176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0F172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4. 能推动怎么处理</a:t>
            </a:r>
            <a:endParaRPr lang="zh-CN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3977640"/>
            <a:ext cx="4937760" cy="12984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输出阶段性结论、处理建议、责任人和工单草案，让问题从咨询走向闭环。</a:t>
            </a:r>
            <a:endParaRPr lang="zh-CN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6510528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7A8695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业务智能诊断平台 / 能力展示</a:t>
            </a:r>
            <a:endParaRPr lang="zh-CN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A33"/>
          </a:solidFill>
          <a:ln w="12700">
            <a:solidFill>
              <a:srgbClr val="081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8FD6D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产品界面</a:t>
            </a:r>
            <a:endParaRPr lang="zh-CN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31520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一个问题驱动整条诊断链路运行</a:t>
            </a:r>
            <a:endParaRPr lang="zh-CN" sz="2200" dirty="0"/>
          </a:p>
        </p:txBody>
      </p:sp>
      <p:sp>
        <p:nvSpPr>
          <p:cNvPr id="5" name="Text 3"/>
          <p:cNvSpPr/>
          <p:nvPr/>
        </p:nvSpPr>
        <p:spPr>
          <a:xfrm>
            <a:off x="658368" y="1024128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D8E7F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用户点击案例后发送问题，系统像 agent 一样逐步展开对话、证据链、结论和工单结果。</a:t>
            </a:r>
            <a:endParaRPr lang="zh-CN" sz="1000" dirty="0"/>
          </a:p>
        </p:txBody>
      </p:sp>
      <p:sp>
        <p:nvSpPr>
          <p:cNvPr id="6" name="Shape 4"/>
          <p:cNvSpPr/>
          <p:nvPr/>
        </p:nvSpPr>
        <p:spPr>
          <a:xfrm>
            <a:off x="10863072" y="438912"/>
            <a:ext cx="658368" cy="384048"/>
          </a:xfrm>
          <a:prstGeom prst="roundRect">
            <a:avLst>
              <a:gd name="adj" fmla="val 19048"/>
            </a:avLst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63072" y="50292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02</a:t>
            </a:r>
            <a:endParaRPr lang="zh-CN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8046720" cy="4800600"/>
          </a:xfrm>
          <a:prstGeom prst="roundRect">
            <a:avLst>
              <a:gd name="adj" fmla="val 1524"/>
            </a:avLst>
          </a:prstGeom>
          <a:solidFill>
            <a:srgbClr val="08243F">
              <a:alpha val="92000"/>
            </a:srgbClr>
          </a:solidFill>
          <a:ln w="12700">
            <a:solidFill>
              <a:srgbClr val="315C83"/>
            </a:solidFill>
            <a:prstDash val="solid"/>
          </a:ln>
          <a:effectLst>
            <a:outerShdw blurRad="38100" dist="50800" dir="2700000" algn="bl" rotWithShape="0">
              <a:srgbClr val="08172A">
                <a:alpha val="20000"/>
              </a:srgbClr>
            </a:outerShdw>
          </a:effectLst>
        </p:spPr>
      </p:sp>
      <p:pic>
        <p:nvPicPr>
          <p:cNvPr id="9" name="Image 0" descr="/Users/lucas/Work/CompanyProject/intelligent-customer-service-system/建设方案/407c44237a2e49ae9d320fc5705b7d1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600200"/>
            <a:ext cx="7726680" cy="4343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5961888"/>
            <a:ext cx="76352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D8E7F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UE 截图：AI 会话、诊断证据链、诊断结论和工单信息在同一工作台联动。</a:t>
            </a:r>
            <a:endParaRPr lang="zh-CN" sz="850" dirty="0"/>
          </a:p>
        </p:txBody>
      </p:sp>
      <p:sp>
        <p:nvSpPr>
          <p:cNvPr id="11" name="Shape 8"/>
          <p:cNvSpPr/>
          <p:nvPr/>
        </p:nvSpPr>
        <p:spPr>
          <a:xfrm>
            <a:off x="8942832" y="1417320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EAF2FF"/>
          </a:solidFill>
          <a:ln w="12700">
            <a:solidFill>
              <a:srgbClr val="D9E3EC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125712" y="1563624"/>
            <a:ext cx="2121408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0F172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会话驱动</a:t>
            </a:r>
            <a:endParaRPr lang="zh-CN" sz="1200" dirty="0"/>
          </a:p>
        </p:txBody>
      </p:sp>
      <p:sp>
        <p:nvSpPr>
          <p:cNvPr id="13" name="Text 10"/>
          <p:cNvSpPr/>
          <p:nvPr/>
        </p:nvSpPr>
        <p:spPr>
          <a:xfrm>
            <a:off x="9125712" y="1847088"/>
            <a:ext cx="2121408" cy="4297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87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输入问题后启动诊断流程，逐步显示思考过程与阶段结论。</a:t>
            </a:r>
            <a:endParaRPr lang="zh-CN" sz="870" dirty="0"/>
          </a:p>
        </p:txBody>
      </p:sp>
      <p:sp>
        <p:nvSpPr>
          <p:cNvPr id="14" name="Shape 11"/>
          <p:cNvSpPr/>
          <p:nvPr/>
        </p:nvSpPr>
        <p:spPr>
          <a:xfrm>
            <a:off x="8942832" y="2587752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E6FFFA"/>
          </a:solidFill>
          <a:ln w="12700">
            <a:solidFill>
              <a:srgbClr val="D9E3EC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125712" y="2734056"/>
            <a:ext cx="2121408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0F172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证据链可视化</a:t>
            </a:r>
            <a:endParaRPr lang="zh-CN" sz="1200" dirty="0"/>
          </a:p>
        </p:txBody>
      </p:sp>
      <p:sp>
        <p:nvSpPr>
          <p:cNvPr id="16" name="Text 13"/>
          <p:cNvSpPr/>
          <p:nvPr/>
        </p:nvSpPr>
        <p:spPr>
          <a:xfrm>
            <a:off x="9125712" y="3017520"/>
            <a:ext cx="2121408" cy="4297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87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船舶、设备、定位数据、服务状态按路径串联，减少口头扯皮。</a:t>
            </a:r>
            <a:endParaRPr lang="zh-CN" sz="870" dirty="0"/>
          </a:p>
        </p:txBody>
      </p:sp>
      <p:sp>
        <p:nvSpPr>
          <p:cNvPr id="17" name="Shape 14"/>
          <p:cNvSpPr/>
          <p:nvPr/>
        </p:nvSpPr>
        <p:spPr>
          <a:xfrm>
            <a:off x="8942832" y="3758184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FEF3C7"/>
          </a:solidFill>
          <a:ln w="12700">
            <a:solidFill>
              <a:srgbClr val="D9E3EC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125712" y="3904488"/>
            <a:ext cx="2121408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0F172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结论结构化</a:t>
            </a:r>
            <a:endParaRPr lang="zh-CN" sz="1200" dirty="0"/>
          </a:p>
        </p:txBody>
      </p:sp>
      <p:sp>
        <p:nvSpPr>
          <p:cNvPr id="19" name="Text 16"/>
          <p:cNvSpPr/>
          <p:nvPr/>
        </p:nvSpPr>
        <p:spPr>
          <a:xfrm>
            <a:off x="9125712" y="4187952"/>
            <a:ext cx="2121408" cy="4297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87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根因、影响范围、处理建议、优先级统一落到可解释结果。</a:t>
            </a:r>
            <a:endParaRPr lang="zh-CN" sz="870" dirty="0"/>
          </a:p>
        </p:txBody>
      </p:sp>
      <p:sp>
        <p:nvSpPr>
          <p:cNvPr id="20" name="Shape 17"/>
          <p:cNvSpPr/>
          <p:nvPr/>
        </p:nvSpPr>
        <p:spPr>
          <a:xfrm>
            <a:off x="8942832" y="4928616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125712" y="5074920"/>
            <a:ext cx="2121408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工单闭环</a:t>
            </a:r>
            <a:endParaRPr lang="zh-CN" sz="1200" dirty="0"/>
          </a:p>
        </p:txBody>
      </p:sp>
      <p:sp>
        <p:nvSpPr>
          <p:cNvPr id="22" name="Text 19"/>
          <p:cNvSpPr/>
          <p:nvPr/>
        </p:nvSpPr>
        <p:spPr>
          <a:xfrm>
            <a:off x="9125712" y="5358384"/>
            <a:ext cx="2121408" cy="4297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870" dirty="0">
                <a:solidFill>
                  <a:srgbClr val="5B68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自动生成工单草案，连接责任人、附件、优先级和处理建议。</a:t>
            </a:r>
            <a:endParaRPr lang="zh-CN" sz="870" dirty="0"/>
          </a:p>
        </p:txBody>
      </p:sp>
      <p:sp>
        <p:nvSpPr>
          <p:cNvPr id="23" name="Text 20"/>
          <p:cNvSpPr/>
          <p:nvPr/>
        </p:nvSpPr>
        <p:spPr>
          <a:xfrm>
            <a:off x="640080" y="6510528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7A8695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业务智能诊断平台 / 能力展示</a:t>
            </a:r>
            <a:endParaRPr lang="zh-CN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E6FFF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角色能力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5097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同一套平台服务 7 类关键角色</a:t>
            </a:r>
            <a:endParaRPr lang="zh-CN" sz="2400" dirty="0"/>
          </a:p>
        </p:txBody>
      </p:sp>
      <p:sp>
        <p:nvSpPr>
          <p:cNvPr id="5" name="Shape 3"/>
          <p:cNvSpPr/>
          <p:nvPr/>
        </p:nvSpPr>
        <p:spPr>
          <a:xfrm>
            <a:off x="10863072" y="438912"/>
            <a:ext cx="658368" cy="384048"/>
          </a:xfrm>
          <a:prstGeom prst="roundRect">
            <a:avLst>
              <a:gd name="adj" fmla="val 19048"/>
            </a:avLst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63072" y="50292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03</a:t>
            </a:r>
            <a:endParaRPr lang="zh-CN" sz="1100" dirty="0"/>
          </a:p>
        </p:txBody>
      </p:sp>
      <p:sp>
        <p:nvSpPr>
          <p:cNvPr id="7" name="Shape 5"/>
          <p:cNvSpPr/>
          <p:nvPr/>
        </p:nvSpPr>
        <p:spPr>
          <a:xfrm>
            <a:off x="713232" y="132588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081A33"/>
          </a:solidFill>
          <a:ln w="12700">
            <a:solidFill>
              <a:srgbClr val="081A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58191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从一线答复到管理决策，都围绕同一条证据链协同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2688" y="1865376"/>
            <a:ext cx="73152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D8E7F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平台不是替代业务系统，而是把分散系统能力组织成可查询、可诊断、可闭环的智能工作台。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13232" y="265176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96112" y="2798064"/>
            <a:ext cx="224028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客服坐席副驾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896112" y="3081528"/>
            <a:ext cx="2240280" cy="9326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5B68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把模糊问题转成排查路径</a:t>
            </a:r>
            <a:endParaRPr lang="zh-CN" sz="1000" dirty="0"/>
          </a:p>
          <a:p>
            <a:pPr marL="0" indent="0">
              <a:buNone/>
            </a:pPr>
            <a:r>
              <a:rPr lang="zh-CN" altLang="en-US" sz="1000" dirty="0">
                <a:solidFill>
                  <a:srgbClr val="5B68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生成标准答复与工单草案</a:t>
            </a:r>
            <a:endParaRPr lang="zh-CN" sz="1000" dirty="0"/>
          </a:p>
        </p:txBody>
      </p:sp>
      <p:sp>
        <p:nvSpPr>
          <p:cNvPr id="13" name="Shape 11"/>
          <p:cNvSpPr/>
          <p:nvPr/>
        </p:nvSpPr>
        <p:spPr>
          <a:xfrm>
            <a:off x="3456432" y="265176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AF2FF"/>
          </a:solidFill>
          <a:ln w="12700">
            <a:solidFill>
              <a:srgbClr val="D9E3EC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39312" y="2798064"/>
            <a:ext cx="224028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0F172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业务查询助手</a:t>
            </a:r>
            <a:endParaRPr lang="zh-CN" sz="1200" dirty="0"/>
          </a:p>
        </p:txBody>
      </p:sp>
      <p:sp>
        <p:nvSpPr>
          <p:cNvPr id="15" name="Text 13"/>
          <p:cNvSpPr/>
          <p:nvPr/>
        </p:nvSpPr>
        <p:spPr>
          <a:xfrm>
            <a:off x="3639312" y="3081528"/>
            <a:ext cx="2240280" cy="9326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自然语言查询告警、巡查、设备</a:t>
            </a:r>
            <a:endParaRPr lang="zh-CN" sz="1000" dirty="0"/>
          </a:p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输出结果和证据来源</a:t>
            </a:r>
            <a:endParaRPr lang="zh-CN" sz="1000" dirty="0"/>
          </a:p>
        </p:txBody>
      </p:sp>
      <p:sp>
        <p:nvSpPr>
          <p:cNvPr id="16" name="Shape 14"/>
          <p:cNvSpPr/>
          <p:nvPr/>
        </p:nvSpPr>
        <p:spPr>
          <a:xfrm>
            <a:off x="6199632" y="265176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6FFFA"/>
          </a:solidFill>
          <a:ln w="12700">
            <a:solidFill>
              <a:srgbClr val="D9E3EC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82512" y="2798064"/>
            <a:ext cx="224028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0F172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运维诊断助手</a:t>
            </a:r>
            <a:endParaRPr lang="zh-CN" sz="1200" dirty="0"/>
          </a:p>
        </p:txBody>
      </p:sp>
      <p:sp>
        <p:nvSpPr>
          <p:cNvPr id="18" name="Text 16"/>
          <p:cNvSpPr/>
          <p:nvPr/>
        </p:nvSpPr>
        <p:spPr>
          <a:xfrm>
            <a:off x="6382512" y="3081528"/>
            <a:ext cx="2240280" cy="9326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串联接口、Redis、MQTT、设备</a:t>
            </a:r>
            <a:endParaRPr lang="zh-CN" sz="1000" dirty="0"/>
          </a:p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快速定位平台级故障</a:t>
            </a:r>
            <a:endParaRPr lang="zh-CN" sz="1000" dirty="0"/>
          </a:p>
        </p:txBody>
      </p:sp>
      <p:sp>
        <p:nvSpPr>
          <p:cNvPr id="19" name="Shape 17"/>
          <p:cNvSpPr/>
          <p:nvPr/>
        </p:nvSpPr>
        <p:spPr>
          <a:xfrm>
            <a:off x="8942832" y="265176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D9E3EC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25712" y="2798064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0F172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实施交付顾问</a:t>
            </a:r>
            <a:endParaRPr lang="zh-CN" sz="1200" dirty="0"/>
          </a:p>
        </p:txBody>
      </p:sp>
      <p:sp>
        <p:nvSpPr>
          <p:cNvPr id="21" name="Text 19"/>
          <p:cNvSpPr/>
          <p:nvPr/>
        </p:nvSpPr>
        <p:spPr>
          <a:xfrm>
            <a:off x="9125712" y="3081528"/>
            <a:ext cx="2331720" cy="9326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沉淀上线体检清单</a:t>
            </a:r>
            <a:endParaRPr lang="zh-CN" sz="1000" dirty="0"/>
          </a:p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指导船舶、围栏、视频、设备配置</a:t>
            </a:r>
            <a:endParaRPr lang="zh-CN" sz="1000" dirty="0"/>
          </a:p>
        </p:txBody>
      </p:sp>
      <p:sp>
        <p:nvSpPr>
          <p:cNvPr id="22" name="Shape 20"/>
          <p:cNvSpPr/>
          <p:nvPr/>
        </p:nvSpPr>
        <p:spPr>
          <a:xfrm>
            <a:off x="713232" y="457200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96112" y="4718304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研发排障</a:t>
            </a:r>
            <a:endParaRPr lang="zh-CN" sz="1200" dirty="0"/>
          </a:p>
        </p:txBody>
      </p:sp>
      <p:sp>
        <p:nvSpPr>
          <p:cNvPr id="24" name="Text 22"/>
          <p:cNvSpPr/>
          <p:nvPr/>
        </p:nvSpPr>
        <p:spPr>
          <a:xfrm>
            <a:off x="896112" y="5010912"/>
            <a:ext cx="17830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调用链</a:t>
            </a:r>
            <a:endParaRPr lang="zh-CN" sz="2200" dirty="0"/>
          </a:p>
        </p:txBody>
      </p:sp>
      <p:sp>
        <p:nvSpPr>
          <p:cNvPr id="25" name="Text 23"/>
          <p:cNvSpPr/>
          <p:nvPr/>
        </p:nvSpPr>
        <p:spPr>
          <a:xfrm>
            <a:off x="896112" y="5422392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5B68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接口、字段、页面、表、日志与影响面定位</a:t>
            </a:r>
            <a:endParaRPr lang="zh-CN" sz="900" dirty="0"/>
          </a:p>
        </p:txBody>
      </p:sp>
      <p:sp>
        <p:nvSpPr>
          <p:cNvPr id="26" name="Shape 24"/>
          <p:cNvSpPr/>
          <p:nvPr/>
        </p:nvSpPr>
        <p:spPr>
          <a:xfrm>
            <a:off x="2999232" y="457200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182112" y="4718304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运营分析</a:t>
            </a:r>
            <a:endParaRPr lang="zh-CN" sz="1200" dirty="0"/>
          </a:p>
        </p:txBody>
      </p:sp>
      <p:sp>
        <p:nvSpPr>
          <p:cNvPr id="28" name="Text 26"/>
          <p:cNvSpPr/>
          <p:nvPr/>
        </p:nvSpPr>
        <p:spPr>
          <a:xfrm>
            <a:off x="3182112" y="5010912"/>
            <a:ext cx="17830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趋势洞察</a:t>
            </a:r>
            <a:endParaRPr lang="zh-CN" sz="2200" dirty="0"/>
          </a:p>
        </p:txBody>
      </p:sp>
      <p:sp>
        <p:nvSpPr>
          <p:cNvPr id="29" name="Text 27"/>
          <p:cNvSpPr/>
          <p:nvPr/>
        </p:nvSpPr>
        <p:spPr>
          <a:xfrm>
            <a:off x="3182112" y="5422392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5B68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告警闭环率、误报率、巡查质量、设备健康</a:t>
            </a:r>
            <a:endParaRPr lang="zh-CN" sz="900" dirty="0"/>
          </a:p>
        </p:txBody>
      </p:sp>
      <p:sp>
        <p:nvSpPr>
          <p:cNvPr id="30" name="Shape 28"/>
          <p:cNvSpPr/>
          <p:nvPr/>
        </p:nvSpPr>
        <p:spPr>
          <a:xfrm>
            <a:off x="5285232" y="457200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68112" y="4718304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审计权限</a:t>
            </a:r>
            <a:endParaRPr lang="zh-CN" sz="1200" dirty="0"/>
          </a:p>
        </p:txBody>
      </p:sp>
      <p:sp>
        <p:nvSpPr>
          <p:cNvPr id="32" name="Text 30"/>
          <p:cNvSpPr/>
          <p:nvPr/>
        </p:nvSpPr>
        <p:spPr>
          <a:xfrm>
            <a:off x="5468112" y="5010912"/>
            <a:ext cx="17830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可控可追溯</a:t>
            </a:r>
            <a:endParaRPr lang="zh-CN" sz="2200" dirty="0"/>
          </a:p>
        </p:txBody>
      </p:sp>
      <p:sp>
        <p:nvSpPr>
          <p:cNvPr id="33" name="Text 31"/>
          <p:cNvSpPr/>
          <p:nvPr/>
        </p:nvSpPr>
        <p:spPr>
          <a:xfrm>
            <a:off x="5468112" y="5422392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5B68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权限继承、脱敏、调用留痕、高风险确认</a:t>
            </a:r>
            <a:endParaRPr lang="zh-CN" sz="900" dirty="0"/>
          </a:p>
        </p:txBody>
      </p:sp>
      <p:sp>
        <p:nvSpPr>
          <p:cNvPr id="34" name="Shape 32"/>
          <p:cNvSpPr/>
          <p:nvPr/>
        </p:nvSpPr>
        <p:spPr>
          <a:xfrm>
            <a:off x="7571232" y="4572000"/>
            <a:ext cx="4069080" cy="1234440"/>
          </a:xfrm>
          <a:prstGeom prst="roundRect">
            <a:avLst>
              <a:gd name="adj" fmla="val 5926"/>
            </a:avLst>
          </a:prstGeom>
          <a:solidFill>
            <a:srgbClr val="081A33"/>
          </a:solidFill>
          <a:ln w="12700">
            <a:solidFill>
              <a:srgbClr val="081A33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754112" y="4718304"/>
            <a:ext cx="370332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共同价值</a:t>
            </a:r>
            <a:endParaRPr lang="zh-CN" sz="1200" dirty="0"/>
          </a:p>
        </p:txBody>
      </p:sp>
      <p:sp>
        <p:nvSpPr>
          <p:cNvPr id="36" name="Text 34"/>
          <p:cNvSpPr/>
          <p:nvPr/>
        </p:nvSpPr>
        <p:spPr>
          <a:xfrm>
            <a:off x="7754112" y="5010912"/>
            <a:ext cx="370332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少等待</a:t>
            </a:r>
            <a:endParaRPr lang="zh-CN" sz="2200" dirty="0"/>
          </a:p>
        </p:txBody>
      </p:sp>
      <p:sp>
        <p:nvSpPr>
          <p:cNvPr id="37" name="Text 35"/>
          <p:cNvSpPr/>
          <p:nvPr/>
        </p:nvSpPr>
        <p:spPr>
          <a:xfrm>
            <a:off x="7754112" y="5422392"/>
            <a:ext cx="37033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E9F2F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同一证据链减少跨团队反复沟通</a:t>
            </a:r>
            <a:endParaRPr lang="zh-CN" sz="900" dirty="0"/>
          </a:p>
        </p:txBody>
      </p:sp>
      <p:sp>
        <p:nvSpPr>
          <p:cNvPr id="38" name="Text 36"/>
          <p:cNvSpPr/>
          <p:nvPr/>
        </p:nvSpPr>
        <p:spPr>
          <a:xfrm>
            <a:off x="640080" y="6510528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7A8695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业务智能诊断平台 / 能力展示</a:t>
            </a:r>
            <a:endParaRPr lang="zh-CN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FEF3C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高价值场景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5097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优先打通 5 个最能证明价值的业务场景</a:t>
            </a:r>
            <a:endParaRPr lang="zh-CN" sz="2400" dirty="0"/>
          </a:p>
        </p:txBody>
      </p:sp>
      <p:sp>
        <p:nvSpPr>
          <p:cNvPr id="5" name="Shape 3"/>
          <p:cNvSpPr/>
          <p:nvPr/>
        </p:nvSpPr>
        <p:spPr>
          <a:xfrm>
            <a:off x="10863072" y="438912"/>
            <a:ext cx="658368" cy="384048"/>
          </a:xfrm>
          <a:prstGeom prst="roundRect">
            <a:avLst>
              <a:gd name="adj" fmla="val 19048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63072" y="50292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04</a:t>
            </a:r>
            <a:endParaRPr lang="zh-CN" sz="1100" dirty="0"/>
          </a:p>
        </p:txBody>
      </p:sp>
      <p:sp>
        <p:nvSpPr>
          <p:cNvPr id="7" name="Shape 5"/>
          <p:cNvSpPr/>
          <p:nvPr/>
        </p:nvSpPr>
        <p:spPr>
          <a:xfrm>
            <a:off x="713232" y="13716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517904"/>
            <a:ext cx="498348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船舶告警查询与状态解释</a:t>
            </a:r>
            <a:endParaRPr lang="zh-CN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1801368"/>
            <a:ext cx="4983480" cy="1618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5B68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• 检查 token、时间窗、租户权限、告警状态和处理口径</a:t>
            </a:r>
            <a:endParaRPr lang="zh-CN" sz="1000" dirty="0"/>
          </a:p>
          <a:p>
            <a:pPr marL="0" indent="0">
              <a:buNone/>
            </a:pPr>
            <a:r>
              <a:rPr lang="zh-CN" altLang="en-US" sz="1000" dirty="0">
                <a:solidFill>
                  <a:srgbClr val="5B68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• 解释为什么接口查不到、页面显示不一致、告警状态不同</a:t>
            </a:r>
            <a:endParaRPr lang="zh-CN" sz="1000" dirty="0"/>
          </a:p>
          <a:p>
            <a:pPr marL="0" indent="0">
              <a:buNone/>
            </a:pPr>
            <a:r>
              <a:rPr lang="zh-CN" altLang="en-US" sz="1000" dirty="0">
                <a:solidFill>
                  <a:srgbClr val="5B68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• 让客服能直接给出带证据的专业答复</a:t>
            </a:r>
            <a:endParaRPr lang="zh-CN" sz="1000" dirty="0"/>
          </a:p>
        </p:txBody>
      </p:sp>
      <p:sp>
        <p:nvSpPr>
          <p:cNvPr id="10" name="Shape 8"/>
          <p:cNvSpPr/>
          <p:nvPr/>
        </p:nvSpPr>
        <p:spPr>
          <a:xfrm>
            <a:off x="713232" y="1371600"/>
            <a:ext cx="73152" cy="2148840"/>
          </a:xfrm>
          <a:prstGeom prst="rect">
            <a:avLst/>
          </a:prstGeom>
          <a:solidFill>
            <a:srgbClr val="2A6FA8"/>
          </a:solidFill>
          <a:ln w="12700">
            <a:solidFill>
              <a:srgbClr val="2A6FA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37160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EAF2FF"/>
          </a:solidFill>
          <a:ln w="12700">
            <a:solidFill>
              <a:srgbClr val="D9E3EC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1517904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0F172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地图船舶不显示诊断</a:t>
            </a:r>
            <a:endParaRPr lang="zh-CN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1801368"/>
            <a:ext cx="4937760" cy="1618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• 检查船舶资料、定位上报、设备绑定、账号权限和地图筛选</a:t>
            </a:r>
            <a:endParaRPr lang="zh-CN" sz="1000" dirty="0"/>
          </a:p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• 区分页面问题、设备问题、权限问题和数据绑定问题</a:t>
            </a:r>
            <a:endParaRPr lang="zh-CN" sz="1000" dirty="0"/>
          </a:p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• 适合监管现场和大屏保障场景</a:t>
            </a:r>
            <a:endParaRPr lang="zh-CN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1371600"/>
            <a:ext cx="73152" cy="2148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730752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6FFFA"/>
          </a:solidFill>
          <a:ln w="12700">
            <a:solidFill>
              <a:srgbClr val="D9E3EC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6112" y="3877056"/>
            <a:ext cx="498348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0F172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驾驶舱抓图失败排查</a:t>
            </a:r>
            <a:endParaRPr lang="zh-CN" sz="1200" dirty="0"/>
          </a:p>
        </p:txBody>
      </p:sp>
      <p:sp>
        <p:nvSpPr>
          <p:cNvPr id="17" name="Text 15"/>
          <p:cNvSpPr/>
          <p:nvPr/>
        </p:nvSpPr>
        <p:spPr>
          <a:xfrm>
            <a:off x="896112" y="4160520"/>
            <a:ext cx="4983480" cy="1618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• 检查 token、openId、shipName、第三方配置和船舶权限</a:t>
            </a:r>
            <a:endParaRPr lang="zh-CN" sz="1000" dirty="0"/>
          </a:p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• 继续核验 GB 通道、驾驶舱媒体配置和抓图服务返回</a:t>
            </a:r>
            <a:endParaRPr lang="zh-CN" sz="1000" dirty="0"/>
          </a:p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• 把研发问题前置结构化，减少来回沟通</a:t>
            </a:r>
            <a:endParaRPr lang="zh-CN" sz="1000" dirty="0"/>
          </a:p>
        </p:txBody>
      </p:sp>
      <p:sp>
        <p:nvSpPr>
          <p:cNvPr id="18" name="Shape 16"/>
          <p:cNvSpPr/>
          <p:nvPr/>
        </p:nvSpPr>
        <p:spPr>
          <a:xfrm>
            <a:off x="713232" y="3730752"/>
            <a:ext cx="73152" cy="2148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3730752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FEF3C7"/>
          </a:solidFill>
          <a:ln w="12700">
            <a:solidFill>
              <a:srgbClr val="D9E3EC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55080" y="3877056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0F172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提醒与巡查证据查询</a:t>
            </a:r>
            <a:endParaRPr lang="zh-CN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4160520"/>
            <a:ext cx="4937760" cy="1618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• 账号/设备质保提醒：查任务、Redis、notice、MQTT topic</a:t>
            </a:r>
            <a:endParaRPr lang="zh-CN" sz="1000" dirty="0"/>
          </a:p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• 巡查漏检：查计划、点位、围栏、打卡位置和证明材料</a:t>
            </a:r>
            <a:endParaRPr lang="zh-CN" sz="1000" dirty="0"/>
          </a:p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• 让争议问题变成证据问题</a:t>
            </a:r>
            <a:endParaRPr lang="zh-CN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3730752"/>
            <a:ext cx="73152" cy="2148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6510528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7A8695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业务智能诊断平台 / 能力展示</a:t>
            </a:r>
            <a:endParaRPr lang="zh-CN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EAF2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现场保障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5097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复杂问题从多人拉群，变成系统化并行排查</a:t>
            </a:r>
            <a:endParaRPr lang="zh-CN" sz="2400" dirty="0"/>
          </a:p>
        </p:txBody>
      </p:sp>
      <p:sp>
        <p:nvSpPr>
          <p:cNvPr id="5" name="Shape 3"/>
          <p:cNvSpPr/>
          <p:nvPr/>
        </p:nvSpPr>
        <p:spPr>
          <a:xfrm>
            <a:off x="10863072" y="438912"/>
            <a:ext cx="658368" cy="384048"/>
          </a:xfrm>
          <a:prstGeom prst="roundRect">
            <a:avLst>
              <a:gd name="adj" fmla="val 19048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63072" y="50292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05</a:t>
            </a:r>
            <a:endParaRPr lang="zh-CN" sz="1100" dirty="0"/>
          </a:p>
        </p:txBody>
      </p:sp>
      <p:sp>
        <p:nvSpPr>
          <p:cNvPr id="7" name="Shape 5"/>
          <p:cNvSpPr/>
          <p:nvPr/>
        </p:nvSpPr>
        <p:spPr>
          <a:xfrm>
            <a:off x="713232" y="1417320"/>
            <a:ext cx="3456432" cy="448056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627632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传统处理方式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1965960"/>
            <a:ext cx="2651760" cy="1554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• 客服只能转述客户问题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• 前端、后端、运维、实施各查一段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• 客户等待时间长，责任边界不清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• 阶段性结论难以对外说明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4434840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8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高压场景下，最怕的是没人能快速回答：到底是平台、设备、权限还是配置问题。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34840" y="2743200"/>
            <a:ext cx="868680" cy="68580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1417320"/>
            <a:ext cx="5989320" cy="4480560"/>
          </a:xfrm>
          <a:prstGeom prst="roundRect">
            <a:avLst>
              <a:gd name="adj" fmla="val 1633"/>
            </a:avLst>
          </a:prstGeom>
          <a:solidFill>
            <a:srgbClr val="F9FBFD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42432" y="1627632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平台处理方式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42432" y="1965960"/>
            <a:ext cx="1691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25312" y="2112264"/>
            <a:ext cx="132588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定级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5925312" y="2395728"/>
            <a:ext cx="1325880" cy="7955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950" dirty="0">
                <a:solidFill>
                  <a:srgbClr val="5B68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识别重点船舶、重点区域、领导现场保障等高优先级事件</a:t>
            </a:r>
            <a:endParaRPr lang="zh-CN" sz="950" dirty="0"/>
          </a:p>
        </p:txBody>
      </p:sp>
      <p:sp>
        <p:nvSpPr>
          <p:cNvPr id="17" name="Shape 15"/>
          <p:cNvSpPr/>
          <p:nvPr/>
        </p:nvSpPr>
        <p:spPr>
          <a:xfrm>
            <a:off x="7644384" y="1965960"/>
            <a:ext cx="1691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827264" y="2112264"/>
            <a:ext cx="132588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并行</a:t>
            </a:r>
            <a:endParaRPr lang="zh-CN" sz="1200" dirty="0"/>
          </a:p>
        </p:txBody>
      </p:sp>
      <p:sp>
        <p:nvSpPr>
          <p:cNvPr id="19" name="Text 17"/>
          <p:cNvSpPr/>
          <p:nvPr/>
        </p:nvSpPr>
        <p:spPr>
          <a:xfrm>
            <a:off x="7827264" y="2395728"/>
            <a:ext cx="1325880" cy="7955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950" dirty="0">
                <a:solidFill>
                  <a:srgbClr val="5B68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同时核查定位、告警、视频、权限、消息和页面入口</a:t>
            </a:r>
            <a:endParaRPr lang="zh-CN" sz="950" dirty="0"/>
          </a:p>
        </p:txBody>
      </p:sp>
      <p:sp>
        <p:nvSpPr>
          <p:cNvPr id="20" name="Shape 18"/>
          <p:cNvSpPr/>
          <p:nvPr/>
        </p:nvSpPr>
        <p:spPr>
          <a:xfrm>
            <a:off x="9546336" y="1965960"/>
            <a:ext cx="1691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29216" y="2112264"/>
            <a:ext cx="132588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闭环</a:t>
            </a:r>
            <a:endParaRPr lang="zh-CN" sz="1200" dirty="0"/>
          </a:p>
        </p:txBody>
      </p:sp>
      <p:sp>
        <p:nvSpPr>
          <p:cNvPr id="22" name="Text 20"/>
          <p:cNvSpPr/>
          <p:nvPr/>
        </p:nvSpPr>
        <p:spPr>
          <a:xfrm>
            <a:off x="9729216" y="2395728"/>
            <a:ext cx="1325880" cy="7955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950" dirty="0">
                <a:solidFill>
                  <a:srgbClr val="5B68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输出阶段结论、责任人、处理建议和工单草案</a:t>
            </a:r>
            <a:endParaRPr lang="zh-CN" sz="950" dirty="0"/>
          </a:p>
        </p:txBody>
      </p:sp>
      <p:sp>
        <p:nvSpPr>
          <p:cNvPr id="23" name="Shape 21"/>
          <p:cNvSpPr/>
          <p:nvPr/>
        </p:nvSpPr>
        <p:spPr>
          <a:xfrm>
            <a:off x="5742432" y="3886200"/>
            <a:ext cx="5486400" cy="1234440"/>
          </a:xfrm>
          <a:prstGeom prst="roundRect">
            <a:avLst>
              <a:gd name="adj" fmla="val 4444"/>
            </a:avLst>
          </a:prstGeom>
          <a:solidFill>
            <a:srgbClr val="081A33"/>
          </a:solidFill>
          <a:ln w="12700">
            <a:solidFill>
              <a:srgbClr val="081A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4325112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关键价值：几分钟内给出可说、可查、可派单的阶段性结论。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510528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7A8695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业务智能诊断平台 / 能力展示</a:t>
            </a:r>
            <a:endParaRPr lang="zh-CN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E6FFF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技术路径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5097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能力建设顺序：场景定边界，图谱和 MCP 提供支撑</a:t>
            </a:r>
            <a:endParaRPr lang="zh-CN" sz="2400" dirty="0"/>
          </a:p>
        </p:txBody>
      </p:sp>
      <p:sp>
        <p:nvSpPr>
          <p:cNvPr id="5" name="Shape 3"/>
          <p:cNvSpPr/>
          <p:nvPr/>
        </p:nvSpPr>
        <p:spPr>
          <a:xfrm>
            <a:off x="10863072" y="438912"/>
            <a:ext cx="658368" cy="384048"/>
          </a:xfrm>
          <a:prstGeom prst="roundRect">
            <a:avLst>
              <a:gd name="adj" fmla="val 19048"/>
            </a:avLst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63072" y="50292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06</a:t>
            </a:r>
            <a:endParaRPr lang="zh-CN" sz="1100" dirty="0"/>
          </a:p>
        </p:txBody>
      </p:sp>
      <p:sp>
        <p:nvSpPr>
          <p:cNvPr id="7" name="Shape 5"/>
          <p:cNvSpPr/>
          <p:nvPr/>
        </p:nvSpPr>
        <p:spPr>
          <a:xfrm>
            <a:off x="713232" y="1417320"/>
            <a:ext cx="65836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828800"/>
            <a:ext cx="1097280" cy="1051560"/>
          </a:xfrm>
          <a:prstGeom prst="roundRect">
            <a:avLst>
              <a:gd name="adj" fmla="val 5217"/>
            </a:avLst>
          </a:prstGeom>
          <a:solidFill>
            <a:srgbClr val="EAF2FF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2084832"/>
            <a:ext cx="950976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选择高价值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试点场景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66544" y="2139696"/>
            <a:ext cx="219456" cy="256032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12848" y="1828800"/>
            <a:ext cx="1097280" cy="1051560"/>
          </a:xfrm>
          <a:prstGeom prst="roundRect">
            <a:avLst>
              <a:gd name="adj" fmla="val 5217"/>
            </a:avLst>
          </a:prstGeom>
          <a:solidFill>
            <a:srgbClr val="E6FFFA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2084832"/>
            <a:ext cx="950976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梳理数据源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接口与权限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2139696"/>
            <a:ext cx="219456" cy="256032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9584" y="1828800"/>
            <a:ext cx="1097280" cy="1051560"/>
          </a:xfrm>
          <a:prstGeom prst="roundRect">
            <a:avLst>
              <a:gd name="adj" fmla="val 5217"/>
            </a:avLst>
          </a:prstGeom>
          <a:solidFill>
            <a:srgbClr val="EAF2FF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02736" y="2084832"/>
            <a:ext cx="950976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构建最小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业务知识图谱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0016" y="2139696"/>
            <a:ext cx="219456" cy="256032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828800"/>
            <a:ext cx="1097280" cy="1051560"/>
          </a:xfrm>
          <a:prstGeom prst="roundRect">
            <a:avLst>
              <a:gd name="adj" fmla="val 5217"/>
            </a:avLst>
          </a:prstGeom>
          <a:solidFill>
            <a:srgbClr val="E6FFFA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084832"/>
            <a:ext cx="950976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封装受控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MCP 工具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16752" y="2139696"/>
            <a:ext cx="219456" cy="256032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63056" y="1828800"/>
            <a:ext cx="914400" cy="105156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2084832"/>
            <a:ext cx="768096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LightGraph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诊断编排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24128" y="3822192"/>
            <a:ext cx="5577840" cy="91440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440" y="413308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不是把全部接口裸给 AI，而是用场景牵引最小图谱、受控工具和可审计编排。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71232" y="1417320"/>
            <a:ext cx="38862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54112" y="1563624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知识图谱解决什么</a:t>
            </a:r>
            <a:endParaRPr lang="zh-CN" sz="1200" dirty="0"/>
          </a:p>
        </p:txBody>
      </p:sp>
      <p:sp>
        <p:nvSpPr>
          <p:cNvPr id="26" name="Text 24"/>
          <p:cNvSpPr/>
          <p:nvPr/>
        </p:nvSpPr>
        <p:spPr>
          <a:xfrm>
            <a:off x="7754112" y="1847088"/>
            <a:ext cx="3520440" cy="1435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5B68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• 对象关系：船舶、租户、设备、告警、巡查、页面、接口、表</a:t>
            </a:r>
            <a:endParaRPr lang="zh-CN" sz="1000" dirty="0"/>
          </a:p>
          <a:p>
            <a:pPr marL="0" indent="0">
              <a:buNone/>
            </a:pPr>
            <a:r>
              <a:rPr lang="zh-CN" altLang="en-US" sz="1000" dirty="0">
                <a:solidFill>
                  <a:srgbClr val="5B68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• 状态口径：确警、处理、误报、超时、权限过滤</a:t>
            </a:r>
            <a:endParaRPr lang="zh-CN" sz="1000" dirty="0"/>
          </a:p>
          <a:p>
            <a:pPr marL="0" indent="0">
              <a:buNone/>
            </a:pPr>
            <a:r>
              <a:rPr lang="zh-CN" altLang="en-US" sz="1000" dirty="0">
                <a:solidFill>
                  <a:srgbClr val="5B68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• 路径定位：哪个页面展示、哪个接口查询、哪个字段决定结果</a:t>
            </a:r>
            <a:endParaRPr lang="zh-CN" sz="1000" dirty="0"/>
          </a:p>
        </p:txBody>
      </p:sp>
      <p:sp>
        <p:nvSpPr>
          <p:cNvPr id="27" name="Shape 25"/>
          <p:cNvSpPr/>
          <p:nvPr/>
        </p:nvSpPr>
        <p:spPr>
          <a:xfrm>
            <a:off x="7571232" y="1417320"/>
            <a:ext cx="73152" cy="1965960"/>
          </a:xfrm>
          <a:prstGeom prst="rect">
            <a:avLst/>
          </a:prstGeom>
          <a:solidFill>
            <a:srgbClr val="2A6FA8"/>
          </a:solidFill>
          <a:ln w="12700">
            <a:solidFill>
              <a:srgbClr val="2A6FA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71232" y="3657600"/>
            <a:ext cx="3886200" cy="2194560"/>
          </a:xfrm>
          <a:prstGeom prst="roundRect">
            <a:avLst>
              <a:gd name="adj" fmla="val 3333"/>
            </a:avLst>
          </a:prstGeom>
          <a:solidFill>
            <a:srgbClr val="EAF2FF"/>
          </a:solidFill>
          <a:ln w="12700">
            <a:solidFill>
              <a:srgbClr val="D9E3EC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754112" y="3803904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0F172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MCP 工具治理</a:t>
            </a:r>
            <a:endParaRPr lang="zh-CN" sz="1200" dirty="0"/>
          </a:p>
        </p:txBody>
      </p:sp>
      <p:sp>
        <p:nvSpPr>
          <p:cNvPr id="30" name="Text 28"/>
          <p:cNvSpPr/>
          <p:nvPr/>
        </p:nvSpPr>
        <p:spPr>
          <a:xfrm>
            <a:off x="7754112" y="4087368"/>
            <a:ext cx="3520440" cy="16642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• 只封装业务能力，不裸露 Controller</a:t>
            </a:r>
            <a:endParaRPr lang="zh-CN" sz="1000" dirty="0"/>
          </a:p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• 默认只读、按租户和设备权限过滤</a:t>
            </a:r>
            <a:endParaRPr lang="zh-CN" sz="1000" dirty="0"/>
          </a:p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• 参数摘要、结果摘要、脱敏命中和调用留痕</a:t>
            </a:r>
            <a:endParaRPr lang="zh-CN" sz="1000" dirty="0"/>
          </a:p>
        </p:txBody>
      </p:sp>
      <p:sp>
        <p:nvSpPr>
          <p:cNvPr id="31" name="Shape 29"/>
          <p:cNvSpPr/>
          <p:nvPr/>
        </p:nvSpPr>
        <p:spPr>
          <a:xfrm>
            <a:off x="7571232" y="3657600"/>
            <a:ext cx="73152" cy="2194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6510528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7A8695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业务智能诊断平台 / 能力展示</a:t>
            </a:r>
            <a:endParaRPr lang="zh-CN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FEF3C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价值对比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5097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从被动售后，升级为主动诊断与运营优化</a:t>
            </a:r>
            <a:endParaRPr lang="zh-CN" sz="2400" dirty="0"/>
          </a:p>
        </p:txBody>
      </p:sp>
      <p:sp>
        <p:nvSpPr>
          <p:cNvPr id="5" name="Shape 3"/>
          <p:cNvSpPr/>
          <p:nvPr/>
        </p:nvSpPr>
        <p:spPr>
          <a:xfrm>
            <a:off x="10863072" y="438912"/>
            <a:ext cx="658368" cy="384048"/>
          </a:xfrm>
          <a:prstGeom prst="roundRect">
            <a:avLst>
              <a:gd name="adj" fmla="val 19048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63072" y="50292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07</a:t>
            </a:r>
            <a:endParaRPr lang="zh-CN" sz="1100" dirty="0"/>
          </a:p>
        </p:txBody>
      </p:sp>
      <p:sp>
        <p:nvSpPr>
          <p:cNvPr id="7" name="Shape 5"/>
          <p:cNvSpPr/>
          <p:nvPr/>
        </p:nvSpPr>
        <p:spPr>
          <a:xfrm>
            <a:off x="713232" y="1417320"/>
            <a:ext cx="3840480" cy="2834640"/>
          </a:xfrm>
          <a:prstGeom prst="roundRect">
            <a:avLst>
              <a:gd name="adj" fmla="val 2581"/>
            </a:avLst>
          </a:prstGeom>
          <a:solidFill>
            <a:srgbClr val="FEF3C7"/>
          </a:solidFill>
          <a:ln w="12700">
            <a:solidFill>
              <a:srgbClr val="D9E3EC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563624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0F172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没有平台时</a:t>
            </a:r>
            <a:endParaRPr lang="zh-CN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1847088"/>
            <a:ext cx="3474720" cy="23042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• 一线依赖经验和人工转述</a:t>
            </a:r>
            <a:endParaRPr lang="zh-CN" sz="1000" dirty="0"/>
          </a:p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• 问题经常跨页面、接口、设备和消息链路</a:t>
            </a:r>
            <a:endParaRPr lang="zh-CN" sz="1000" dirty="0"/>
          </a:p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• 研发收到的信息不完整，排障成本高</a:t>
            </a:r>
            <a:endParaRPr lang="zh-CN" sz="1000" dirty="0"/>
          </a:p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• 案例处理完就散落在聊天记录里</a:t>
            </a:r>
            <a:endParaRPr lang="zh-CN" sz="1000" dirty="0"/>
          </a:p>
        </p:txBody>
      </p:sp>
      <p:sp>
        <p:nvSpPr>
          <p:cNvPr id="10" name="Shape 8"/>
          <p:cNvSpPr/>
          <p:nvPr/>
        </p:nvSpPr>
        <p:spPr>
          <a:xfrm>
            <a:off x="713232" y="1417320"/>
            <a:ext cx="73152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417320"/>
            <a:ext cx="3977640" cy="2834640"/>
          </a:xfrm>
          <a:prstGeom prst="roundRect">
            <a:avLst>
              <a:gd name="adj" fmla="val 2581"/>
            </a:avLst>
          </a:prstGeom>
          <a:solidFill>
            <a:srgbClr val="E6FFFA"/>
          </a:solidFill>
          <a:ln w="12700">
            <a:solidFill>
              <a:srgbClr val="D9E3EC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1563624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0F172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接入平台后</a:t>
            </a:r>
            <a:endParaRPr lang="zh-CN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847088"/>
            <a:ext cx="3611880" cy="23042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• 自然语言直接触发业务诊断流程</a:t>
            </a:r>
            <a:endParaRPr lang="zh-CN" sz="1000" dirty="0"/>
          </a:p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• 证据链连接真实数据、图谱关系和工具调用</a:t>
            </a:r>
            <a:endParaRPr lang="zh-CN" sz="1000" dirty="0"/>
          </a:p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• 工单草案自动带上根因、证据、优先级和责任人</a:t>
            </a:r>
            <a:endParaRPr lang="zh-CN" sz="1000" dirty="0"/>
          </a:p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• 每次处理沉淀为历史案例和图谱资产</a:t>
            </a:r>
            <a:endParaRPr lang="zh-CN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417320"/>
            <a:ext cx="73152" cy="2834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87968" y="1417320"/>
            <a:ext cx="2569464" cy="1325880"/>
          </a:xfrm>
          <a:prstGeom prst="roundRect">
            <a:avLst>
              <a:gd name="adj" fmla="val 5517"/>
            </a:avLst>
          </a:prstGeom>
          <a:solidFill>
            <a:srgbClr val="081A33"/>
          </a:solidFill>
          <a:ln w="12700">
            <a:solidFill>
              <a:srgbClr val="081A33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70848" y="1563624"/>
            <a:ext cx="220370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响应方式</a:t>
            </a:r>
            <a:endParaRPr lang="zh-CN" sz="1200" dirty="0"/>
          </a:p>
        </p:txBody>
      </p:sp>
      <p:sp>
        <p:nvSpPr>
          <p:cNvPr id="17" name="Text 15"/>
          <p:cNvSpPr/>
          <p:nvPr/>
        </p:nvSpPr>
        <p:spPr>
          <a:xfrm>
            <a:off x="9070848" y="1856232"/>
            <a:ext cx="2203704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从问答到诊断</a:t>
            </a:r>
            <a:endParaRPr lang="zh-CN" sz="2200" dirty="0"/>
          </a:p>
        </p:txBody>
      </p:sp>
      <p:sp>
        <p:nvSpPr>
          <p:cNvPr id="18" name="Text 16"/>
          <p:cNvSpPr/>
          <p:nvPr/>
        </p:nvSpPr>
        <p:spPr>
          <a:xfrm>
            <a:off x="9070848" y="2359152"/>
            <a:ext cx="220370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E9F2F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不只回答按钮在哪里，而是解释问题为什么发生</a:t>
            </a:r>
            <a:endParaRPr lang="zh-CN" sz="900" dirty="0"/>
          </a:p>
        </p:txBody>
      </p:sp>
      <p:sp>
        <p:nvSpPr>
          <p:cNvPr id="19" name="Shape 17"/>
          <p:cNvSpPr/>
          <p:nvPr/>
        </p:nvSpPr>
        <p:spPr>
          <a:xfrm>
            <a:off x="8887968" y="2926080"/>
            <a:ext cx="256946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070848" y="3072384"/>
            <a:ext cx="220370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协同效率</a:t>
            </a:r>
            <a:endParaRPr lang="zh-CN" sz="1200" dirty="0"/>
          </a:p>
        </p:txBody>
      </p:sp>
      <p:sp>
        <p:nvSpPr>
          <p:cNvPr id="21" name="Text 19"/>
          <p:cNvSpPr/>
          <p:nvPr/>
        </p:nvSpPr>
        <p:spPr>
          <a:xfrm>
            <a:off x="9070848" y="3364992"/>
            <a:ext cx="2203704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少拉群</a:t>
            </a:r>
            <a:endParaRPr lang="zh-CN" sz="2200" dirty="0"/>
          </a:p>
        </p:txBody>
      </p:sp>
      <p:sp>
        <p:nvSpPr>
          <p:cNvPr id="22" name="Text 20"/>
          <p:cNvSpPr/>
          <p:nvPr/>
        </p:nvSpPr>
        <p:spPr>
          <a:xfrm>
            <a:off x="9070848" y="3867912"/>
            <a:ext cx="220370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5B68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同一证据链减少跨团队来回确认</a:t>
            </a:r>
            <a:endParaRPr lang="zh-CN" sz="900" dirty="0"/>
          </a:p>
        </p:txBody>
      </p:sp>
      <p:sp>
        <p:nvSpPr>
          <p:cNvPr id="23" name="Shape 21"/>
          <p:cNvSpPr/>
          <p:nvPr/>
        </p:nvSpPr>
        <p:spPr>
          <a:xfrm>
            <a:off x="8887968" y="4434840"/>
            <a:ext cx="256946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070848" y="4581144"/>
            <a:ext cx="220370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长期价值</a:t>
            </a:r>
            <a:endParaRPr lang="zh-CN" sz="1200" dirty="0"/>
          </a:p>
        </p:txBody>
      </p:sp>
      <p:sp>
        <p:nvSpPr>
          <p:cNvPr id="25" name="Text 23"/>
          <p:cNvSpPr/>
          <p:nvPr/>
        </p:nvSpPr>
        <p:spPr>
          <a:xfrm>
            <a:off x="9070848" y="4873752"/>
            <a:ext cx="2203704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越用越懂</a:t>
            </a:r>
            <a:endParaRPr lang="zh-CN" sz="2200" dirty="0"/>
          </a:p>
        </p:txBody>
      </p:sp>
      <p:sp>
        <p:nvSpPr>
          <p:cNvPr id="26" name="Text 24"/>
          <p:cNvSpPr/>
          <p:nvPr/>
        </p:nvSpPr>
        <p:spPr>
          <a:xfrm>
            <a:off x="9070848" y="5376672"/>
            <a:ext cx="220370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5B68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历史案例和图谱持续沉淀业务知识</a:t>
            </a:r>
            <a:endParaRPr lang="zh-CN" sz="900" dirty="0"/>
          </a:p>
        </p:txBody>
      </p:sp>
      <p:sp>
        <p:nvSpPr>
          <p:cNvPr id="27" name="Shape 25"/>
          <p:cNvSpPr/>
          <p:nvPr/>
        </p:nvSpPr>
        <p:spPr>
          <a:xfrm>
            <a:off x="713232" y="4617720"/>
            <a:ext cx="7973568" cy="1143000"/>
          </a:xfrm>
          <a:prstGeom prst="roundRect">
            <a:avLst>
              <a:gd name="adj" fmla="val 4000"/>
            </a:avLst>
          </a:prstGeom>
          <a:solidFill>
            <a:srgbClr val="081A33"/>
          </a:solidFill>
          <a:ln w="12700">
            <a:solidFill>
              <a:srgbClr val="081A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983480"/>
            <a:ext cx="74980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核心购买理由：降低沟通成本、缩短故障定位时间、提升售后响应质量、形成可复制交付能力。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6510528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7A8695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业务智能诊断平台 / 能力展示</a:t>
            </a:r>
            <a:endParaRPr lang="zh-CN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E6FFF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安全边界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5097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可接入真实系统，也必须可控、可审计、可追责</a:t>
            </a:r>
            <a:endParaRPr lang="zh-CN" sz="2400" dirty="0"/>
          </a:p>
        </p:txBody>
      </p:sp>
      <p:sp>
        <p:nvSpPr>
          <p:cNvPr id="5" name="Shape 3"/>
          <p:cNvSpPr/>
          <p:nvPr/>
        </p:nvSpPr>
        <p:spPr>
          <a:xfrm>
            <a:off x="10863072" y="438912"/>
            <a:ext cx="658368" cy="384048"/>
          </a:xfrm>
          <a:prstGeom prst="roundRect">
            <a:avLst>
              <a:gd name="adj" fmla="val 19048"/>
            </a:avLst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63072" y="50292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08</a:t>
            </a:r>
            <a:endParaRPr lang="zh-CN" sz="1100" dirty="0"/>
          </a:p>
        </p:txBody>
      </p:sp>
      <p:sp>
        <p:nvSpPr>
          <p:cNvPr id="7" name="Shape 5"/>
          <p:cNvSpPr/>
          <p:nvPr/>
        </p:nvSpPr>
        <p:spPr>
          <a:xfrm>
            <a:off x="713232" y="1371600"/>
            <a:ext cx="48463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4592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能力边界清晰，客户才敢让它连接生产系统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2148840"/>
            <a:ext cx="4023360" cy="182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权限继承：租户、角色、船舶、设备范围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默认只读：查询、解释、诊断、工单草拟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字段脱敏：token、手机号、密钥、内部 URL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调用留痕：用户、时间、工具、参数摘要、结果摘要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高风险确认：重启设备、批量处理、修改配置需审批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4526280"/>
            <a:ext cx="4114800" cy="868680"/>
          </a:xfrm>
          <a:prstGeom prst="roundRect">
            <a:avLst>
              <a:gd name="adj" fmla="val 4211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482803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2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安全不是附加项，而是政企客户购买智能平台的前提。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06440" y="1371600"/>
            <a:ext cx="5669280" cy="1920240"/>
          </a:xfrm>
          <a:prstGeom prst="roundRect">
            <a:avLst>
              <a:gd name="adj" fmla="val 3810"/>
            </a:avLst>
          </a:prstGeom>
          <a:solidFill>
            <a:srgbClr val="EAF2FF"/>
          </a:solidFill>
          <a:ln w="12700">
            <a:solidFill>
              <a:srgbClr val="D9E3EC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89320" y="1517904"/>
            <a:ext cx="530352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0F172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客户最关心的问题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5989320" y="1801368"/>
            <a:ext cx="5303520" cy="1389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会不会查到其他机构数据？会不会直接执行危险操作？出了问题能不能追责？平台必须把这些问题变成可验证机制。</a:t>
            </a:r>
            <a:endParaRPr lang="zh-CN" sz="1000" dirty="0"/>
          </a:p>
        </p:txBody>
      </p:sp>
      <p:sp>
        <p:nvSpPr>
          <p:cNvPr id="15" name="Shape 13"/>
          <p:cNvSpPr/>
          <p:nvPr/>
        </p:nvSpPr>
        <p:spPr>
          <a:xfrm>
            <a:off x="5806440" y="3566160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FEF3C7"/>
          </a:solidFill>
          <a:ln w="12700">
            <a:solidFill>
              <a:srgbClr val="D9E3EC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89320" y="3712464"/>
            <a:ext cx="530352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0F172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平台给出的答案</a:t>
            </a:r>
            <a:endParaRPr lang="zh-CN" sz="1200" dirty="0"/>
          </a:p>
        </p:txBody>
      </p:sp>
      <p:sp>
        <p:nvSpPr>
          <p:cNvPr id="17" name="Text 15"/>
          <p:cNvSpPr/>
          <p:nvPr/>
        </p:nvSpPr>
        <p:spPr>
          <a:xfrm>
            <a:off x="5989320" y="3995928"/>
            <a:ext cx="5303520" cy="8869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所有工具调用都继承当前用户权限，跨租户数据默认拒绝或裁剪，敏感字段脱敏，高风险动作不自动执行，审计记录可回放。</a:t>
            </a:r>
            <a:endParaRPr lang="zh-CN" sz="1000" dirty="0"/>
          </a:p>
        </p:txBody>
      </p:sp>
      <p:sp>
        <p:nvSpPr>
          <p:cNvPr id="18" name="Shape 16"/>
          <p:cNvSpPr/>
          <p:nvPr/>
        </p:nvSpPr>
        <p:spPr>
          <a:xfrm>
            <a:off x="5806440" y="5212080"/>
            <a:ext cx="5669280" cy="658368"/>
          </a:xfrm>
          <a:prstGeom prst="roundRect">
            <a:avLst>
              <a:gd name="adj" fmla="val 6944"/>
            </a:avLst>
          </a:prstGeom>
          <a:solidFill>
            <a:srgbClr val="081A33"/>
          </a:solidFill>
          <a:ln w="12700">
            <a:solidFill>
              <a:srgbClr val="081A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53328" y="5449824"/>
            <a:ext cx="52120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能连接真实业务系统，又能守住边界，是平台从演示走向落地的关键。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6510528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7A8695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业务智能诊断平台 / 能力展示</a:t>
            </a:r>
            <a:endParaRPr lang="zh-CN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A33"/>
          </a:solidFill>
          <a:ln w="12700">
            <a:solidFill>
              <a:srgbClr val="081A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05156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业务智能诊断平台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04672" y="1920240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8E7F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最终产品主张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04672" y="2331720"/>
            <a:ext cx="4526280" cy="1097280"/>
          </a:xfrm>
          <a:prstGeom prst="roundRect">
            <a:avLst>
              <a:gd name="adj" fmla="val 6667"/>
            </a:avLst>
          </a:prstGeom>
          <a:solidFill>
            <a:srgbClr val="0D2B4F"/>
          </a:solidFill>
          <a:ln w="12700">
            <a:solidFill>
              <a:srgbClr val="0D2B4F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87552" y="2478024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一句话价值</a:t>
            </a:r>
            <a:endParaRPr lang="zh-CN" sz="1200" dirty="0"/>
          </a:p>
        </p:txBody>
      </p:sp>
      <p:sp>
        <p:nvSpPr>
          <p:cNvPr id="8" name="Text 6"/>
          <p:cNvSpPr/>
          <p:nvPr/>
        </p:nvSpPr>
        <p:spPr>
          <a:xfrm>
            <a:off x="987552" y="2761488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E8F7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让客户用自然语言理解复杂业务系统，让客服、运维、实施、研发围绕同一条证据链协同，让每一次问题处理都沉淀为知识资产。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804672" y="3657600"/>
            <a:ext cx="4526280" cy="1097280"/>
          </a:xfrm>
          <a:prstGeom prst="roundRect">
            <a:avLst>
              <a:gd name="adj" fmla="val 6667"/>
            </a:avLst>
          </a:prstGeom>
          <a:solidFill>
            <a:srgbClr val="0D2B4F"/>
          </a:solidFill>
          <a:ln w="12700">
            <a:solidFill>
              <a:srgbClr val="0D2B4F"/>
            </a:solidFill>
            <a:prstDash val="solid"/>
          </a:ln>
          <a:effectLst>
            <a:outerShdw blurRad="25400" dist="50800" dir="2700000" algn="bl" rotWithShape="0">
              <a:srgbClr val="BFC9D6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87552" y="3803904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最适合先落地的路径</a:t>
            </a:r>
            <a:endParaRPr lang="zh-CN" sz="1200" dirty="0"/>
          </a:p>
        </p:txBody>
      </p:sp>
      <p:sp>
        <p:nvSpPr>
          <p:cNvPr id="11" name="Text 9"/>
          <p:cNvSpPr/>
          <p:nvPr/>
        </p:nvSpPr>
        <p:spPr>
          <a:xfrm>
            <a:off x="987552" y="4087368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E8F7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用 5 个高价值场景牵引建设：告警查询、地图不显示、抓图失败、提醒未推送、巡查漏检。跑通后，新增场景复用图谱、MCP 和 LightGraph 编排体系。</a:t>
            </a:r>
            <a:endParaRPr lang="zh-CN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5989320"/>
            <a:ext cx="310896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D3E2F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业务智能诊断平台 / 产品能力展示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2857</Words>
  <Application>WPS 演示</Application>
  <PresentationFormat>On-screen Show (16:9)</PresentationFormat>
  <Paragraphs>323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宋体</vt:lpstr>
      <vt:lpstr>Wingdings</vt:lpstr>
      <vt:lpstr>PingFang SC</vt:lpstr>
      <vt:lpstr>PingFang SC</vt:lpstr>
      <vt:lpstr>Calibri</vt:lpstr>
      <vt:lpstr>Helvetica Neue</vt:lpstr>
      <vt:lpstr>微软雅黑</vt:lpstr>
      <vt:lpstr>汉仪旗黑</vt:lpstr>
      <vt:lpstr>宋体</vt:lpstr>
      <vt:lpstr>Arial Unicode MS</vt:lpstr>
      <vt:lpstr>等线</vt:lpstr>
      <vt:lpstr>苹方-简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CompanyProject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业务智能诊断平台产品能力展示</dc:title>
  <dc:creator>CompanyProject</dc:creator>
  <dc:subject>LightGraph 二开智能客服与业务诊断系统能力展示</dc:subject>
  <cp:lastModifiedBy>飞鸿张</cp:lastModifiedBy>
  <cp:revision>3</cp:revision>
  <dcterms:created xsi:type="dcterms:W3CDTF">2026-06-04T08:24:25Z</dcterms:created>
  <dcterms:modified xsi:type="dcterms:W3CDTF">2026-06-04T08:24:25Z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5004B5ED30B0E0C82C36216ABD6E3EEF_42</vt:lpwstr>
  </property>
  <property fmtid="{D5CDD505-2E9C-101B-9397-08002B2CF9AE}" pid="3" name="KSOProductBuildVer">
    <vt:lpwstr>2052-12.1.23143.23143</vt:lpwstr>
  </property>
</Properties>
</file>